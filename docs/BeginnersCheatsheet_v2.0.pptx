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8" r:id="rId2"/>
    <p:sldId id="259" r:id="rId3"/>
  </p:sldIdLst>
  <p:sldSz cx="13970000" cy="10795000"/>
  <p:notesSz cx="6797675" cy="987425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1pPr>
    <a:lvl2pPr marL="0" marR="0" indent="228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2pPr>
    <a:lvl3pPr marL="0" marR="0" indent="457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3pPr>
    <a:lvl4pPr marL="0" marR="0" indent="685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4pPr>
    <a:lvl5pPr marL="0" marR="0" indent="9144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5pPr>
    <a:lvl6pPr marL="0" marR="0" indent="11430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6pPr>
    <a:lvl7pPr marL="0" marR="0" indent="13716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7pPr>
    <a:lvl8pPr marL="0" marR="0" indent="16002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8pPr>
    <a:lvl9pPr marL="0" marR="0" indent="182880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lvl9pPr>
  </p:defaultTextStyle>
  <p:extLst>
    <p:ext uri="{EFAFB233-063F-42B5-8137-9DF3F51BA10A}">
      <p15:sldGuideLst xmlns:p15="http://schemas.microsoft.com/office/powerpoint/2012/main">
        <p15:guide id="1" orient="horz" pos="3400">
          <p15:clr>
            <a:srgbClr val="A4A3A4"/>
          </p15:clr>
        </p15:guide>
        <p15:guide id="2" pos="4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a:srgbClr val="000000"/>
    <a:srgbClr val="D8E1F8"/>
    <a:srgbClr val="0099FF"/>
    <a:srgbClr val="B5C6F1"/>
    <a:srgbClr val="0099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
          <a:latin typeface="Source Sans Pro"/>
          <a:ea typeface="Source Sans Pro"/>
          <a:cs typeface="Source Sans Pro"/>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Source Sans Pro"/>
          <a:ea typeface="Source Sans Pro"/>
          <a:cs typeface="Source Sans Pr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
          <a:latin typeface="Source Sans Pro"/>
          <a:ea typeface="Source Sans Pro"/>
          <a:cs typeface="Source Sans Pro"/>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b="off" i="off">
        <a:font>
          <a:latin typeface="Source Sans Pro"/>
          <a:ea typeface="Source Sans Pro"/>
          <a:cs typeface="Source Sans Pro"/>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
          <a:latin typeface="Source Sans Pro"/>
          <a:ea typeface="Source Sans Pro"/>
          <a:cs typeface="Source Sans Pro"/>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Source Sans Pro"/>
          <a:ea typeface="Source Sans Pro"/>
          <a:cs typeface="Source Sans Pro"/>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
          <a:latin typeface="Source Sans Pro"/>
          <a:ea typeface="Source Sans Pro"/>
          <a:cs typeface="Source Sans Pro"/>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Source Sans Pro"/>
          <a:ea typeface="Source Sans Pro"/>
          <a:cs typeface="Source Sans Pro"/>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
          <a:latin typeface="Source Sans Pro"/>
          <a:ea typeface="Source Sans Pro"/>
          <a:cs typeface="Source Sans Pro"/>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87" autoAdjust="0"/>
    <p:restoredTop sz="94660"/>
  </p:normalViewPr>
  <p:slideViewPr>
    <p:cSldViewPr>
      <p:cViewPr>
        <p:scale>
          <a:sx n="150" d="100"/>
          <a:sy n="150" d="100"/>
        </p:scale>
        <p:origin x="-2382" y="-5064"/>
      </p:cViewPr>
      <p:guideLst>
        <p:guide orient="horz" pos="3400"/>
        <p:guide pos="440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5" name="Shape 125"/>
          <p:cNvSpPr>
            <a:spLocks noGrp="1" noRot="1" noChangeAspect="1"/>
          </p:cNvSpPr>
          <p:nvPr>
            <p:ph type="sldImg"/>
          </p:nvPr>
        </p:nvSpPr>
        <p:spPr>
          <a:xfrm>
            <a:off x="1004888" y="741363"/>
            <a:ext cx="4787900" cy="3702050"/>
          </a:xfrm>
          <a:prstGeom prst="rect">
            <a:avLst/>
          </a:prstGeom>
        </p:spPr>
        <p:txBody>
          <a:bodyPr/>
          <a:lstStyle/>
          <a:p>
            <a:endParaRPr/>
          </a:p>
        </p:txBody>
      </p:sp>
      <p:sp>
        <p:nvSpPr>
          <p:cNvPr id="126" name="Shape 126"/>
          <p:cNvSpPr>
            <a:spLocks noGrp="1"/>
          </p:cNvSpPr>
          <p:nvPr>
            <p:ph type="body" sz="quarter" idx="1"/>
          </p:nvPr>
        </p:nvSpPr>
        <p:spPr>
          <a:xfrm>
            <a:off x="906357" y="4690269"/>
            <a:ext cx="4984962" cy="4443413"/>
          </a:xfrm>
          <a:prstGeom prst="rect">
            <a:avLst/>
          </a:prstGeom>
        </p:spPr>
        <p:txBody>
          <a:bodyPr/>
          <a:lstStyle/>
          <a:p>
            <a:endParaRPr/>
          </a:p>
        </p:txBody>
      </p:sp>
    </p:spTree>
    <p:extLst>
      <p:ext uri="{BB962C8B-B14F-4D97-AF65-F5344CB8AC3E}">
        <p14:creationId xmlns:p14="http://schemas.microsoft.com/office/powerpoint/2010/main" val="1422623406"/>
      </p:ext>
    </p:extLst>
  </p:cSld>
  <p:clrMap bg1="lt1" tx1="dk1" bg2="lt2" tx2="dk2" accent1="accent1" accent2="accent2" accent3="accent3" accent4="accent4" accent5="accent5" accent6="accent6" hlink="hlink" folHlink="folHlink"/>
  <p:notesStyle>
    <a:lvl1pPr defTabSz="457200" latinLnBrk="0">
      <a:lnSpc>
        <a:spcPct val="125000"/>
      </a:lnSpc>
      <a:defRPr sz="2600">
        <a:latin typeface="Avenir Roman"/>
        <a:ea typeface="Avenir Roman"/>
        <a:cs typeface="Avenir Roman"/>
        <a:sym typeface="Avenir Roman"/>
      </a:defRPr>
    </a:lvl1pPr>
    <a:lvl2pPr indent="228600" defTabSz="457200" latinLnBrk="0">
      <a:lnSpc>
        <a:spcPct val="125000"/>
      </a:lnSpc>
      <a:defRPr sz="2600">
        <a:latin typeface="Avenir Roman"/>
        <a:ea typeface="Avenir Roman"/>
        <a:cs typeface="Avenir Roman"/>
        <a:sym typeface="Avenir Roman"/>
      </a:defRPr>
    </a:lvl2pPr>
    <a:lvl3pPr indent="457200" defTabSz="457200" latinLnBrk="0">
      <a:lnSpc>
        <a:spcPct val="125000"/>
      </a:lnSpc>
      <a:defRPr sz="2600">
        <a:latin typeface="Avenir Roman"/>
        <a:ea typeface="Avenir Roman"/>
        <a:cs typeface="Avenir Roman"/>
        <a:sym typeface="Avenir Roman"/>
      </a:defRPr>
    </a:lvl3pPr>
    <a:lvl4pPr indent="685800" defTabSz="457200" latinLnBrk="0">
      <a:lnSpc>
        <a:spcPct val="125000"/>
      </a:lnSpc>
      <a:defRPr sz="2600">
        <a:latin typeface="Avenir Roman"/>
        <a:ea typeface="Avenir Roman"/>
        <a:cs typeface="Avenir Roman"/>
        <a:sym typeface="Avenir Roman"/>
      </a:defRPr>
    </a:lvl4pPr>
    <a:lvl5pPr indent="914400" defTabSz="457200" latinLnBrk="0">
      <a:lnSpc>
        <a:spcPct val="125000"/>
      </a:lnSpc>
      <a:defRPr sz="2600">
        <a:latin typeface="Avenir Roman"/>
        <a:ea typeface="Avenir Roman"/>
        <a:cs typeface="Avenir Roman"/>
        <a:sym typeface="Avenir Roman"/>
      </a:defRPr>
    </a:lvl5pPr>
    <a:lvl6pPr indent="1143000" defTabSz="457200" latinLnBrk="0">
      <a:lnSpc>
        <a:spcPct val="125000"/>
      </a:lnSpc>
      <a:defRPr sz="2600">
        <a:latin typeface="Avenir Roman"/>
        <a:ea typeface="Avenir Roman"/>
        <a:cs typeface="Avenir Roman"/>
        <a:sym typeface="Avenir Roman"/>
      </a:defRPr>
    </a:lvl6pPr>
    <a:lvl7pPr indent="1371600" defTabSz="457200" latinLnBrk="0">
      <a:lnSpc>
        <a:spcPct val="125000"/>
      </a:lnSpc>
      <a:defRPr sz="2600">
        <a:latin typeface="Avenir Roman"/>
        <a:ea typeface="Avenir Roman"/>
        <a:cs typeface="Avenir Roman"/>
        <a:sym typeface="Avenir Roman"/>
      </a:defRPr>
    </a:lvl7pPr>
    <a:lvl8pPr indent="1600200" defTabSz="457200" latinLnBrk="0">
      <a:lnSpc>
        <a:spcPct val="125000"/>
      </a:lnSpc>
      <a:defRPr sz="2600">
        <a:latin typeface="Avenir Roman"/>
        <a:ea typeface="Avenir Roman"/>
        <a:cs typeface="Avenir Roman"/>
        <a:sym typeface="Avenir Roman"/>
      </a:defRPr>
    </a:lvl8pPr>
    <a:lvl9pPr indent="1828800" defTabSz="457200" latinLnBrk="0">
      <a:lnSpc>
        <a:spcPct val="125000"/>
      </a:lnSpc>
      <a:defRPr sz="2600">
        <a:latin typeface="Avenir Roman"/>
        <a:ea typeface="Avenir Roman"/>
        <a:cs typeface="Avenir Roman"/>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amp; Subtitle">
    <p:spTree>
      <p:nvGrpSpPr>
        <p:cNvPr id="1" name=""/>
        <p:cNvGrpSpPr/>
        <p:nvPr/>
      </p:nvGrpSpPr>
      <p:grpSpPr>
        <a:xfrm>
          <a:off x="0" y="0"/>
          <a:ext cx="0" cy="0"/>
          <a:chOff x="0" y="0"/>
          <a:chExt cx="0" cy="0"/>
        </a:xfrm>
      </p:grpSpPr>
      <p:sp>
        <p:nvSpPr>
          <p:cNvPr id="11" name="Title Text"/>
          <p:cNvSpPr txBox="1">
            <a:spLocks noGrp="1"/>
          </p:cNvSpPr>
          <p:nvPr>
            <p:ph type="title"/>
          </p:nvPr>
        </p:nvSpPr>
        <p:spPr>
          <a:xfrm>
            <a:off x="1364257" y="1918642"/>
            <a:ext cx="11241486" cy="3547071"/>
          </a:xfrm>
          <a:prstGeom prst="rect">
            <a:avLst/>
          </a:prstGeom>
        </p:spPr>
        <p:txBody>
          <a:bodyPr anchor="b"/>
          <a:lstStyle/>
          <a:p>
            <a:r>
              <a:t>Title Text</a:t>
            </a:r>
          </a:p>
        </p:txBody>
      </p:sp>
      <p:sp>
        <p:nvSpPr>
          <p:cNvPr id="12" name="Body Level One…"/>
          <p:cNvSpPr txBox="1">
            <a:spLocks noGrp="1"/>
          </p:cNvSpPr>
          <p:nvPr>
            <p:ph type="body" sz="quarter" idx="1"/>
          </p:nvPr>
        </p:nvSpPr>
        <p:spPr>
          <a:xfrm>
            <a:off x="1364257" y="5561210"/>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1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Photo - Horizontal">
    <p:spTree>
      <p:nvGrpSpPr>
        <p:cNvPr id="1" name=""/>
        <p:cNvGrpSpPr/>
        <p:nvPr/>
      </p:nvGrpSpPr>
      <p:grpSpPr>
        <a:xfrm>
          <a:off x="0" y="0"/>
          <a:ext cx="0" cy="0"/>
          <a:chOff x="0" y="0"/>
          <a:chExt cx="0" cy="0"/>
        </a:xfrm>
      </p:grpSpPr>
      <p:sp>
        <p:nvSpPr>
          <p:cNvPr id="20" name="Image"/>
          <p:cNvSpPr>
            <a:spLocks noGrp="1"/>
          </p:cNvSpPr>
          <p:nvPr>
            <p:ph type="pic" idx="13"/>
          </p:nvPr>
        </p:nvSpPr>
        <p:spPr>
          <a:xfrm>
            <a:off x="1725786" y="840878"/>
            <a:ext cx="10504786" cy="6357443"/>
          </a:xfrm>
          <a:prstGeom prst="rect">
            <a:avLst/>
          </a:prstGeom>
        </p:spPr>
        <p:txBody>
          <a:bodyPr lIns="91439" tIns="45719" rIns="91439" bIns="45719" anchor="t">
            <a:noAutofit/>
          </a:bodyPr>
          <a:lstStyle/>
          <a:p>
            <a:endParaRPr/>
          </a:p>
        </p:txBody>
      </p:sp>
      <p:sp>
        <p:nvSpPr>
          <p:cNvPr id="21" name="Title Text"/>
          <p:cNvSpPr txBox="1">
            <a:spLocks noGrp="1"/>
          </p:cNvSpPr>
          <p:nvPr>
            <p:ph type="title"/>
          </p:nvPr>
        </p:nvSpPr>
        <p:spPr>
          <a:xfrm>
            <a:off x="1364257" y="7375673"/>
            <a:ext cx="11241486" cy="1527970"/>
          </a:xfrm>
          <a:prstGeom prst="rect">
            <a:avLst/>
          </a:prstGeom>
        </p:spPr>
        <p:txBody>
          <a:bodyPr anchor="b"/>
          <a:lstStyle/>
          <a:p>
            <a:r>
              <a:t>Title Text</a:t>
            </a:r>
          </a:p>
        </p:txBody>
      </p:sp>
      <p:sp>
        <p:nvSpPr>
          <p:cNvPr id="22" name="Body Level One…"/>
          <p:cNvSpPr txBox="1">
            <a:spLocks noGrp="1"/>
          </p:cNvSpPr>
          <p:nvPr>
            <p:ph type="body" sz="quarter" idx="1"/>
          </p:nvPr>
        </p:nvSpPr>
        <p:spPr>
          <a:xfrm>
            <a:off x="1364257" y="8958212"/>
            <a:ext cx="11241486" cy="1214191"/>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xfrm>
            <a:off x="6790156" y="10090546"/>
            <a:ext cx="376045" cy="388542"/>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Cent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1364257" y="3623964"/>
            <a:ext cx="11241486" cy="3547072"/>
          </a:xfrm>
          <a:prstGeom prst="rect">
            <a:avLst/>
          </a:prstGeom>
        </p:spPr>
        <p:txBody>
          <a:bodyPr/>
          <a:lstStyle/>
          <a:p>
            <a:r>
              <a:t>Title Text</a:t>
            </a:r>
          </a:p>
        </p:txBody>
      </p:sp>
      <p:sp>
        <p:nvSpPr>
          <p:cNvPr id="3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Photo - Vertical">
    <p:spTree>
      <p:nvGrpSpPr>
        <p:cNvPr id="1" name=""/>
        <p:cNvGrpSpPr/>
        <p:nvPr/>
      </p:nvGrpSpPr>
      <p:grpSpPr>
        <a:xfrm>
          <a:off x="0" y="0"/>
          <a:ext cx="0" cy="0"/>
          <a:chOff x="0" y="0"/>
          <a:chExt cx="0" cy="0"/>
        </a:xfrm>
      </p:grpSpPr>
      <p:sp>
        <p:nvSpPr>
          <p:cNvPr id="38" name="Image"/>
          <p:cNvSpPr>
            <a:spLocks noGrp="1"/>
          </p:cNvSpPr>
          <p:nvPr>
            <p:ph type="pic" sz="half" idx="13"/>
          </p:nvPr>
        </p:nvSpPr>
        <p:spPr>
          <a:xfrm>
            <a:off x="7216923" y="840878"/>
            <a:ext cx="5729884" cy="8840392"/>
          </a:xfrm>
          <a:prstGeom prst="rect">
            <a:avLst/>
          </a:prstGeom>
        </p:spPr>
        <p:txBody>
          <a:bodyPr lIns="91439" tIns="45719" rIns="91439" bIns="45719" anchor="t">
            <a:noAutofit/>
          </a:bodyPr>
          <a:lstStyle/>
          <a:p>
            <a:endParaRPr/>
          </a:p>
        </p:txBody>
      </p:sp>
      <p:sp>
        <p:nvSpPr>
          <p:cNvPr id="39" name="Title Text"/>
          <p:cNvSpPr txBox="1">
            <a:spLocks noGrp="1"/>
          </p:cNvSpPr>
          <p:nvPr>
            <p:ph type="title"/>
          </p:nvPr>
        </p:nvSpPr>
        <p:spPr>
          <a:xfrm>
            <a:off x="1023193" y="840878"/>
            <a:ext cx="5729884" cy="4283771"/>
          </a:xfrm>
          <a:prstGeom prst="rect">
            <a:avLst/>
          </a:prstGeom>
        </p:spPr>
        <p:txBody>
          <a:bodyPr anchor="b"/>
          <a:lstStyle>
            <a:lvl1pPr>
              <a:defRPr sz="3300">
                <a:latin typeface="Source Sans Pro Semibold"/>
                <a:ea typeface="Source Sans Pro Semibold"/>
                <a:cs typeface="Source Sans Pro Semibold"/>
                <a:sym typeface="Source Sans Pro Semibold"/>
              </a:defRPr>
            </a:lvl1pPr>
          </a:lstStyle>
          <a:p>
            <a:r>
              <a:t>Title Text</a:t>
            </a:r>
          </a:p>
        </p:txBody>
      </p:sp>
      <p:sp>
        <p:nvSpPr>
          <p:cNvPr id="40" name="Body Level One…"/>
          <p:cNvSpPr txBox="1">
            <a:spLocks noGrp="1"/>
          </p:cNvSpPr>
          <p:nvPr>
            <p:ph type="body" sz="quarter" idx="1"/>
          </p:nvPr>
        </p:nvSpPr>
        <p:spPr>
          <a:xfrm>
            <a:off x="1023193" y="5274716"/>
            <a:ext cx="5729884" cy="4406554"/>
          </a:xfrm>
          <a:prstGeom prst="rect">
            <a:avLst/>
          </a:prstGeom>
        </p:spPr>
        <p:txBody>
          <a:bodyPr anchor="t"/>
          <a:lstStyle>
            <a:lvl1pPr marL="0" indent="0">
              <a:buSzTx/>
              <a:buNone/>
              <a:defRPr sz="2500">
                <a:solidFill>
                  <a:srgbClr val="628DB5"/>
                </a:solidFill>
              </a:defRPr>
            </a:lvl1pPr>
            <a:lvl2pPr marL="0" indent="228600">
              <a:buSzTx/>
              <a:buNone/>
              <a:defRPr sz="2500">
                <a:solidFill>
                  <a:srgbClr val="628DB5"/>
                </a:solidFill>
              </a:defRPr>
            </a:lvl2pPr>
            <a:lvl3pPr marL="0" indent="457200">
              <a:buSzTx/>
              <a:buNone/>
              <a:defRPr sz="2500">
                <a:solidFill>
                  <a:srgbClr val="628DB5"/>
                </a:solidFill>
              </a:defRPr>
            </a:lvl3pPr>
            <a:lvl4pPr marL="0" indent="685800">
              <a:buSzTx/>
              <a:buNone/>
              <a:defRPr sz="2500">
                <a:solidFill>
                  <a:srgbClr val="628DB5"/>
                </a:solidFill>
              </a:defRPr>
            </a:lvl4pPr>
            <a:lvl5pPr marL="0" indent="914400">
              <a:buSzTx/>
              <a:buNone/>
              <a:defRPr sz="2500">
                <a:solidFill>
                  <a:srgbClr val="628DB5"/>
                </a:solidFill>
              </a:defRPr>
            </a:lvl5p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prstGeom prst="rect">
            <a:avLst/>
          </a:prstGeom>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prstGeom prst="rect">
            <a:avLst/>
          </a:prstGeom>
        </p:spPr>
        <p:txBody>
          <a:bodyPr/>
          <a:lstStyle/>
          <a:p>
            <a:r>
              <a:t>Title Text</a:t>
            </a:r>
          </a:p>
        </p:txBody>
      </p:sp>
      <p:sp>
        <p:nvSpPr>
          <p:cNvPr id="57"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le, Bullets &amp; Photo">
    <p:spTree>
      <p:nvGrpSpPr>
        <p:cNvPr id="1" name=""/>
        <p:cNvGrpSpPr/>
        <p:nvPr/>
      </p:nvGrpSpPr>
      <p:grpSpPr>
        <a:xfrm>
          <a:off x="0" y="0"/>
          <a:ext cx="0" cy="0"/>
          <a:chOff x="0" y="0"/>
          <a:chExt cx="0" cy="0"/>
        </a:xfrm>
      </p:grpSpPr>
      <p:sp>
        <p:nvSpPr>
          <p:cNvPr id="65" name="Image"/>
          <p:cNvSpPr>
            <a:spLocks noGrp="1"/>
          </p:cNvSpPr>
          <p:nvPr>
            <p:ph type="pic" sz="half" idx="13"/>
          </p:nvPr>
        </p:nvSpPr>
        <p:spPr>
          <a:xfrm>
            <a:off x="7216923" y="2955478"/>
            <a:ext cx="5729884" cy="6753077"/>
          </a:xfrm>
          <a:prstGeom prst="rect">
            <a:avLst/>
          </a:prstGeom>
        </p:spPr>
        <p:txBody>
          <a:bodyPr lIns="91439" tIns="45719" rIns="91439" bIns="45719" anchor="t">
            <a:noAutofit/>
          </a:bodyPr>
          <a:lstStyle/>
          <a:p>
            <a:endParaRPr/>
          </a:p>
        </p:txBody>
      </p:sp>
      <p:sp>
        <p:nvSpPr>
          <p:cNvPr id="66" name="Title Text"/>
          <p:cNvSpPr txBox="1">
            <a:spLocks noGrp="1"/>
          </p:cNvSpPr>
          <p:nvPr>
            <p:ph type="title"/>
          </p:nvPr>
        </p:nvSpPr>
        <p:spPr>
          <a:prstGeom prst="rect">
            <a:avLst/>
          </a:prstGeom>
        </p:spPr>
        <p:txBody>
          <a:bodyPr/>
          <a:lstStyle/>
          <a:p>
            <a:r>
              <a:t>Title Text</a:t>
            </a:r>
          </a:p>
        </p:txBody>
      </p:sp>
      <p:sp>
        <p:nvSpPr>
          <p:cNvPr id="67" name="Body Level One…"/>
          <p:cNvSpPr txBox="1">
            <a:spLocks noGrp="1"/>
          </p:cNvSpPr>
          <p:nvPr>
            <p:ph type="body" sz="half" idx="1"/>
          </p:nvPr>
        </p:nvSpPr>
        <p:spPr>
          <a:xfrm>
            <a:off x="1023193" y="2955478"/>
            <a:ext cx="5729884" cy="6753077"/>
          </a:xfrm>
          <a:prstGeom prst="rect">
            <a:avLst/>
          </a:prstGeom>
        </p:spPr>
        <p:txBody>
          <a:bodyPr/>
          <a:lstStyle>
            <a:lvl1pPr marL="146957" indent="-146957">
              <a:defRPr b="1"/>
            </a:lvl1pPr>
            <a:lvl2pPr marL="489857" indent="-146957">
              <a:defRPr b="1"/>
            </a:lvl2pPr>
            <a:lvl3pPr marL="832757" indent="-146957">
              <a:defRPr b="1"/>
            </a:lvl3pPr>
            <a:lvl4pPr marL="1175657" indent="-146957">
              <a:defRPr b="1"/>
            </a:lvl4pPr>
            <a:lvl5pPr marL="1518557" indent="-146957">
              <a:defRPr b="1"/>
            </a:lvl5pPr>
          </a:lstStyle>
          <a:p>
            <a:r>
              <a:t>Body Level One</a:t>
            </a:r>
          </a:p>
          <a:p>
            <a:pPr lvl="1"/>
            <a:r>
              <a:t>Body Level Two</a:t>
            </a:r>
          </a:p>
          <a:p>
            <a:pPr lvl="2"/>
            <a:r>
              <a:t>Body Level Three</a:t>
            </a:r>
          </a:p>
          <a:p>
            <a:pPr lvl="3"/>
            <a:r>
              <a:t>Body Level Four</a:t>
            </a:r>
          </a:p>
          <a:p>
            <a:pPr lvl="4"/>
            <a:r>
              <a:t>Body Level Five</a:t>
            </a:r>
          </a:p>
        </p:txBody>
      </p:sp>
      <p:sp>
        <p:nvSpPr>
          <p:cNvPr id="6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Bullets">
    <p:spTree>
      <p:nvGrpSpPr>
        <p:cNvPr id="1" name=""/>
        <p:cNvGrpSpPr/>
        <p:nvPr/>
      </p:nvGrpSpPr>
      <p:grpSpPr>
        <a:xfrm>
          <a:off x="0" y="0"/>
          <a:ext cx="0" cy="0"/>
          <a:chOff x="0" y="0"/>
          <a:chExt cx="0" cy="0"/>
        </a:xfrm>
      </p:grpSpPr>
      <p:sp>
        <p:nvSpPr>
          <p:cNvPr id="75" name="Body Level One…"/>
          <p:cNvSpPr txBox="1">
            <a:spLocks noGrp="1"/>
          </p:cNvSpPr>
          <p:nvPr>
            <p:ph type="body" idx="1"/>
          </p:nvPr>
        </p:nvSpPr>
        <p:spPr>
          <a:xfrm>
            <a:off x="1023193" y="1523007"/>
            <a:ext cx="11923614" cy="7748986"/>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hoto - 3 Up">
    <p:spTree>
      <p:nvGrpSpPr>
        <p:cNvPr id="1" name=""/>
        <p:cNvGrpSpPr/>
        <p:nvPr/>
      </p:nvGrpSpPr>
      <p:grpSpPr>
        <a:xfrm>
          <a:off x="0" y="0"/>
          <a:ext cx="0" cy="0"/>
          <a:chOff x="0" y="0"/>
          <a:chExt cx="0" cy="0"/>
        </a:xfrm>
      </p:grpSpPr>
      <p:sp>
        <p:nvSpPr>
          <p:cNvPr id="83" name="Image"/>
          <p:cNvSpPr>
            <a:spLocks noGrp="1"/>
          </p:cNvSpPr>
          <p:nvPr>
            <p:ph type="pic" sz="half" idx="13"/>
          </p:nvPr>
        </p:nvSpPr>
        <p:spPr>
          <a:xfrm>
            <a:off x="1023193" y="1113730"/>
            <a:ext cx="5729884" cy="8567540"/>
          </a:xfrm>
          <a:prstGeom prst="rect">
            <a:avLst/>
          </a:prstGeom>
        </p:spPr>
        <p:txBody>
          <a:bodyPr lIns="91439" tIns="45719" rIns="91439" bIns="45719" anchor="t">
            <a:noAutofit/>
          </a:bodyPr>
          <a:lstStyle/>
          <a:p>
            <a:endParaRPr/>
          </a:p>
        </p:txBody>
      </p:sp>
      <p:sp>
        <p:nvSpPr>
          <p:cNvPr id="84" name="Image"/>
          <p:cNvSpPr>
            <a:spLocks noGrp="1"/>
          </p:cNvSpPr>
          <p:nvPr>
            <p:ph type="pic" sz="quarter" idx="14"/>
          </p:nvPr>
        </p:nvSpPr>
        <p:spPr>
          <a:xfrm>
            <a:off x="7216923" y="5629423"/>
            <a:ext cx="5729884" cy="4051847"/>
          </a:xfrm>
          <a:prstGeom prst="rect">
            <a:avLst/>
          </a:prstGeom>
        </p:spPr>
        <p:txBody>
          <a:bodyPr lIns="91439" tIns="45719" rIns="91439" bIns="45719" anchor="t">
            <a:noAutofit/>
          </a:bodyPr>
          <a:lstStyle/>
          <a:p>
            <a:endParaRPr/>
          </a:p>
        </p:txBody>
      </p:sp>
      <p:sp>
        <p:nvSpPr>
          <p:cNvPr id="85" name="Image"/>
          <p:cNvSpPr>
            <a:spLocks noGrp="1"/>
          </p:cNvSpPr>
          <p:nvPr>
            <p:ph type="pic" sz="quarter" idx="15"/>
          </p:nvPr>
        </p:nvSpPr>
        <p:spPr>
          <a:xfrm>
            <a:off x="7223603" y="1113730"/>
            <a:ext cx="5729884" cy="4051847"/>
          </a:xfrm>
          <a:prstGeom prst="rect">
            <a:avLst/>
          </a:prstGeom>
        </p:spPr>
        <p:txBody>
          <a:bodyPr lIns="91439" tIns="45719" rIns="91439" bIns="45719" anchor="t">
            <a:noAutofit/>
          </a:bodyPr>
          <a:lstStyle/>
          <a:p>
            <a:endParaRP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93" name="–Johnny Appleseed"/>
          <p:cNvSpPr>
            <a:spLocks noGrp="1"/>
          </p:cNvSpPr>
          <p:nvPr>
            <p:ph type="body" sz="quarter" idx="13"/>
          </p:nvPr>
        </p:nvSpPr>
        <p:spPr>
          <a:xfrm>
            <a:off x="1364257" y="6993681"/>
            <a:ext cx="11241486" cy="508001"/>
          </a:xfrm>
          <a:prstGeom prst="rect">
            <a:avLst/>
          </a:prstGeom>
        </p:spPr>
        <p:txBody>
          <a:bodyPr anchor="t">
            <a:spAutoFit/>
          </a:bodyPr>
          <a:lstStyle>
            <a:lvl1pPr marL="0" indent="0" algn="r">
              <a:lnSpc>
                <a:spcPct val="90000"/>
              </a:lnSpc>
              <a:buSzTx/>
              <a:buNone/>
              <a:defRPr sz="900"/>
            </a:lvl1pPr>
          </a:lstStyle>
          <a:p>
            <a:r>
              <a:t>–Johnny Appleseed</a:t>
            </a:r>
          </a:p>
        </p:txBody>
      </p:sp>
      <p:sp>
        <p:nvSpPr>
          <p:cNvPr id="94" name="“Type a quote here.”"/>
          <p:cNvSpPr>
            <a:spLocks noGrp="1"/>
          </p:cNvSpPr>
          <p:nvPr>
            <p:ph type="body" sz="quarter" idx="14"/>
          </p:nvPr>
        </p:nvSpPr>
        <p:spPr>
          <a:xfrm>
            <a:off x="1364257" y="4742656"/>
            <a:ext cx="11241486" cy="736700"/>
          </a:xfrm>
          <a:prstGeom prst="rect">
            <a:avLst/>
          </a:prstGeom>
        </p:spPr>
        <p:txBody>
          <a:bodyPr>
            <a:spAutoFit/>
          </a:bodyPr>
          <a:lstStyle>
            <a:lvl1pPr marL="0" indent="0">
              <a:buSzTx/>
              <a:buNone/>
            </a:lvl1pPr>
          </a:lstStyle>
          <a:p>
            <a:r>
              <a:t>“Type a quote here.” </a:t>
            </a:r>
          </a:p>
        </p:txBody>
      </p:sp>
      <p:sp>
        <p:nvSpPr>
          <p:cNvPr id="9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Photo">
    <p:spTree>
      <p:nvGrpSpPr>
        <p:cNvPr id="1" name=""/>
        <p:cNvGrpSpPr/>
        <p:nvPr/>
      </p:nvGrpSpPr>
      <p:grpSpPr>
        <a:xfrm>
          <a:off x="0" y="0"/>
          <a:ext cx="0" cy="0"/>
          <a:chOff x="0" y="0"/>
          <a:chExt cx="0" cy="0"/>
        </a:xfrm>
      </p:grpSpPr>
      <p:sp>
        <p:nvSpPr>
          <p:cNvPr id="102" name="Image"/>
          <p:cNvSpPr>
            <a:spLocks noGrp="1"/>
          </p:cNvSpPr>
          <p:nvPr>
            <p:ph type="pic" idx="13"/>
          </p:nvPr>
        </p:nvSpPr>
        <p:spPr>
          <a:xfrm>
            <a:off x="0" y="158750"/>
            <a:ext cx="13964218" cy="10477500"/>
          </a:xfrm>
          <a:prstGeom prst="rect">
            <a:avLst/>
          </a:prstGeom>
        </p:spPr>
        <p:txBody>
          <a:bodyPr lIns="91439" tIns="45719" rIns="91439" bIns="45719" anchor="t">
            <a:noAutofit/>
          </a:bodyPr>
          <a:lstStyle/>
          <a:p>
            <a:endParaRPr/>
          </a:p>
        </p:txBody>
      </p:sp>
      <p:sp>
        <p:nvSpPr>
          <p:cNvPr id="10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023193" y="636240"/>
            <a:ext cx="11923614" cy="23192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Title Text</a:t>
            </a:r>
          </a:p>
        </p:txBody>
      </p:sp>
      <p:sp>
        <p:nvSpPr>
          <p:cNvPr id="3" name="Body Level One…"/>
          <p:cNvSpPr txBox="1">
            <a:spLocks noGrp="1"/>
          </p:cNvSpPr>
          <p:nvPr>
            <p:ph type="body" idx="1"/>
          </p:nvPr>
        </p:nvSpPr>
        <p:spPr>
          <a:xfrm>
            <a:off x="1023193" y="2955478"/>
            <a:ext cx="11923614" cy="67530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lide Number"/>
          <p:cNvSpPr txBox="1">
            <a:spLocks noGrp="1"/>
          </p:cNvSpPr>
          <p:nvPr>
            <p:ph type="sldNum" sz="quarter" idx="2"/>
          </p:nvPr>
        </p:nvSpPr>
        <p:spPr>
          <a:xfrm>
            <a:off x="6790156" y="10097368"/>
            <a:ext cx="376045" cy="388541"/>
          </a:xfrm>
          <a:prstGeom prst="rect">
            <a:avLst/>
          </a:prstGeom>
          <a:ln w="12700">
            <a:miter lim="400000"/>
          </a:ln>
        </p:spPr>
        <p:txBody>
          <a:bodyPr wrap="none" lIns="54570" tIns="54570" rIns="54570" bIns="54570">
            <a:spAutoFit/>
          </a:bodyPr>
          <a:lstStyle>
            <a:lvl1pPr algn="ctr">
              <a:spcBef>
                <a:spcPts val="0"/>
              </a:spcBef>
              <a:defRPr sz="1800" b="0">
                <a:solidFill>
                  <a:srgbClr val="000000"/>
                </a:solidFill>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p:titleStyle>
    <p:bodyStyle>
      <a:lvl1pPr marL="148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1pPr>
      <a:lvl2pPr marL="592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2pPr>
      <a:lvl3pPr marL="1037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3pPr>
      <a:lvl4pPr marL="1481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4pPr>
      <a:lvl5pPr marL="1926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5pPr>
      <a:lvl6pPr marL="2370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6pPr>
      <a:lvl7pPr marL="2815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7pPr>
      <a:lvl8pPr marL="32596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8pPr>
      <a:lvl9pPr marL="3704166" marR="0" indent="-148166" algn="l" defTabSz="584200" rtl="0" latinLnBrk="0">
        <a:lnSpc>
          <a:spcPct val="80000"/>
        </a:lnSpc>
        <a:spcBef>
          <a:spcPts val="0"/>
        </a:spcBef>
        <a:spcAft>
          <a:spcPts val="0"/>
        </a:spcAft>
        <a:buClrTx/>
        <a:buSzPct val="75000"/>
        <a:buFontTx/>
        <a:buChar char="•"/>
        <a:tabLst/>
        <a:defRPr sz="1200" b="0" i="0" u="none" strike="noStrike" cap="none" spc="0" baseline="0">
          <a:ln>
            <a:noFill/>
          </a:ln>
          <a:solidFill>
            <a:srgbClr val="000000"/>
          </a:solidFill>
          <a:uFillTx/>
          <a:latin typeface="Source Sans Pro"/>
          <a:ea typeface="Source Sans Pro"/>
          <a:cs typeface="Source Sans Pro"/>
          <a:sym typeface="Source Sans Pro"/>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png"/><Relationship Id="rId13" Type="http://schemas.openxmlformats.org/officeDocument/2006/relationships/image" Target="../media/image7.png"/><Relationship Id="rId18" Type="http://schemas.openxmlformats.org/officeDocument/2006/relationships/image" Target="../media/image12.png"/><Relationship Id="rId3" Type="http://schemas.openxmlformats.org/officeDocument/2006/relationships/hyperlink" Target="https://creativecommons.org/licenses/by-sa/4.0/" TargetMode="External"/><Relationship Id="rId21" Type="http://schemas.openxmlformats.org/officeDocument/2006/relationships/image" Target="../media/image15.png"/><Relationship Id="rId7" Type="http://schemas.openxmlformats.org/officeDocument/2006/relationships/image" Target="../media/image4.png"/><Relationship Id="rId12" Type="http://schemas.openxmlformats.org/officeDocument/2006/relationships/image" Target="../media/image6.png"/><Relationship Id="rId17" Type="http://schemas.openxmlformats.org/officeDocument/2006/relationships/image" Target="../media/image11.png"/><Relationship Id="rId2" Type="http://schemas.openxmlformats.org/officeDocument/2006/relationships/image" Target="../media/image2.png"/><Relationship Id="rId16" Type="http://schemas.openxmlformats.org/officeDocument/2006/relationships/image" Target="../media/image10.png"/><Relationship Id="rId20"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3.png"/><Relationship Id="rId11" Type="http://schemas.openxmlformats.org/officeDocument/2006/relationships/hyperlink" Target="https://swcarpentry.github.io/r-novice-gapminder/02-project-intro/" TargetMode="External"/><Relationship Id="rId5" Type="http://schemas.openxmlformats.org/officeDocument/2006/relationships/hyperlink" Target="https://datasquad.github.io/ECLR/index.html" TargetMode="External"/><Relationship Id="rId15" Type="http://schemas.openxmlformats.org/officeDocument/2006/relationships/image" Target="../media/image9.png"/><Relationship Id="rId10" Type="http://schemas.openxmlformats.org/officeDocument/2006/relationships/hyperlink" Target="https://support.rstudio.com/hc/en-us/articles/200526207-Using-Projects" TargetMode="External"/><Relationship Id="rId19" Type="http://schemas.openxmlformats.org/officeDocument/2006/relationships/image" Target="../media/image13.png"/><Relationship Id="rId4" Type="http://schemas.openxmlformats.org/officeDocument/2006/relationships/hyperlink" Target="mailto:info@rstudio.com" TargetMode="External"/><Relationship Id="rId9" Type="http://schemas.openxmlformats.org/officeDocument/2006/relationships/image" Target="../media/image5.png"/><Relationship Id="rId14" Type="http://schemas.openxmlformats.org/officeDocument/2006/relationships/image" Target="../media/image8.png"/></Relationships>
</file>

<file path=ppt/slides/_rels/slide2.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2.png"/><Relationship Id="rId21" Type="http://schemas.openxmlformats.org/officeDocument/2006/relationships/image" Target="../media/image28.png"/><Relationship Id="rId7" Type="http://schemas.openxmlformats.org/officeDocument/2006/relationships/image" Target="../media/image18.png"/><Relationship Id="rId12" Type="http://schemas.openxmlformats.org/officeDocument/2006/relationships/hyperlink" Target="https://datasquad.github.io/ECLR/index.html" TargetMode="External"/><Relationship Id="rId17" Type="http://schemas.openxmlformats.org/officeDocument/2006/relationships/image" Target="../media/image24.png"/><Relationship Id="rId2" Type="http://schemas.openxmlformats.org/officeDocument/2006/relationships/image" Target="../media/image16.png"/><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6.xml"/><Relationship Id="rId6" Type="http://schemas.openxmlformats.org/officeDocument/2006/relationships/image" Target="../media/image17.png"/><Relationship Id="rId11" Type="http://schemas.openxmlformats.org/officeDocument/2006/relationships/hyperlink" Target="mailto:info@rstudio.com" TargetMode="External"/><Relationship Id="rId5" Type="http://schemas.openxmlformats.org/officeDocument/2006/relationships/hyperlink" Target="https://cran.r-project.org/web/views/" TargetMode="External"/><Relationship Id="rId15" Type="http://schemas.openxmlformats.org/officeDocument/2006/relationships/image" Target="../media/image22.png"/><Relationship Id="rId10" Type="http://schemas.openxmlformats.org/officeDocument/2006/relationships/hyperlink" Target="https://creativecommons.org/licenses/by-sa/4.0/" TargetMode="External"/><Relationship Id="rId19" Type="http://schemas.openxmlformats.org/officeDocument/2006/relationships/image" Target="../media/image26.png"/><Relationship Id="rId4" Type="http://schemas.openxmlformats.org/officeDocument/2006/relationships/image" Target="../media/image3.png"/><Relationship Id="rId9" Type="http://schemas.openxmlformats.org/officeDocument/2006/relationships/image" Target="../media/image11.png"/><Relationship Id="rId1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Group"/>
          <p:cNvSpPr/>
          <p:nvPr/>
        </p:nvSpPr>
        <p:spPr>
          <a:xfrm>
            <a:off x="9324521" y="5129719"/>
            <a:ext cx="4346831" cy="4804285"/>
          </a:xfrm>
          <a:prstGeom prst="rect">
            <a:avLst/>
          </a:prstGeom>
          <a:gradFill>
            <a:gsLst>
              <a:gs pos="0">
                <a:srgbClr val="B5C6F1"/>
              </a:gs>
              <a:gs pos="50000">
                <a:schemeClr val="accent1">
                  <a:tint val="44500"/>
                  <a:satMod val="160000"/>
                </a:schemeClr>
              </a:gs>
              <a:gs pos="100000">
                <a:schemeClr val="accent1">
                  <a:tint val="23500"/>
                  <a:satMod val="160000"/>
                </a:schemeClr>
              </a:gs>
            </a:gsLst>
            <a:lin ang="5400000" scaled="0"/>
          </a:gra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pic>
        <p:nvPicPr>
          <p:cNvPr id="292" name="Image" descr="Image"/>
          <p:cNvPicPr>
            <a:picLocks noChangeAspect="1"/>
          </p:cNvPicPr>
          <p:nvPr/>
        </p:nvPicPr>
        <p:blipFill>
          <a:blip r:embed="rId2"/>
          <a:stretch>
            <a:fillRect/>
          </a:stretch>
        </p:blipFill>
        <p:spPr>
          <a:xfrm>
            <a:off x="8369105" y="-684523"/>
            <a:ext cx="5603817" cy="2992964"/>
          </a:xfrm>
          <a:prstGeom prst="rect">
            <a:avLst/>
          </a:prstGeom>
          <a:ln w="12700">
            <a:miter lim="400000"/>
          </a:ln>
        </p:spPr>
      </p:pic>
      <p:grpSp>
        <p:nvGrpSpPr>
          <p:cNvPr id="311" name="Group"/>
          <p:cNvGrpSpPr/>
          <p:nvPr/>
        </p:nvGrpSpPr>
        <p:grpSpPr>
          <a:xfrm>
            <a:off x="8369105" y="-1013161"/>
            <a:ext cx="6159575" cy="3553962"/>
            <a:chOff x="0" y="51032"/>
            <a:chExt cx="6159573" cy="3553961"/>
          </a:xfrm>
        </p:grpSpPr>
        <p:grpSp>
          <p:nvGrpSpPr>
            <p:cNvPr id="308" name="Group"/>
            <p:cNvGrpSpPr/>
            <p:nvPr/>
          </p:nvGrpSpPr>
          <p:grpSpPr>
            <a:xfrm>
              <a:off x="24975" y="51032"/>
              <a:ext cx="6134599" cy="2980091"/>
              <a:chOff x="0" y="51032"/>
              <a:chExt cx="6134598" cy="2980090"/>
            </a:xfrm>
          </p:grpSpPr>
          <p:sp>
            <p:nvSpPr>
              <p:cNvPr id="293" name="Triangle"/>
              <p:cNvSpPr/>
              <p:nvPr/>
            </p:nvSpPr>
            <p:spPr>
              <a:xfrm rot="1800000">
                <a:off x="1177377" y="304285"/>
                <a:ext cx="1319509" cy="1143860"/>
              </a:xfrm>
              <a:prstGeom prst="triangle">
                <a:avLst/>
              </a:prstGeom>
              <a:solidFill>
                <a:srgbClr val="DEDFE0"/>
              </a:solidFill>
              <a:ln w="3175"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4" name="Circle"/>
              <p:cNvSpPr/>
              <p:nvPr/>
            </p:nvSpPr>
            <p:spPr>
              <a:xfrm flipH="1">
                <a:off x="1550782" y="838357"/>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5" name="Circle"/>
              <p:cNvSpPr/>
              <p:nvPr/>
            </p:nvSpPr>
            <p:spPr>
              <a:xfrm flipH="1">
                <a:off x="0" y="819778"/>
                <a:ext cx="422089"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6" name="Triangle"/>
              <p:cNvSpPr/>
              <p:nvPr/>
            </p:nvSpPr>
            <p:spPr>
              <a:xfrm rot="19800000">
                <a:off x="2896973" y="973389"/>
                <a:ext cx="1319509" cy="1143860"/>
              </a:xfrm>
              <a:prstGeom prst="triangle">
                <a:avLst/>
              </a:prstGeom>
              <a:solidFill>
                <a:srgbClr val="EFEFF0"/>
              </a:solidFill>
              <a:ln w="6350" cap="flat">
                <a:solidFill>
                  <a:srgbClr val="EFEFF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7" name="Triangle"/>
              <p:cNvSpPr/>
              <p:nvPr/>
            </p:nvSpPr>
            <p:spPr>
              <a:xfrm rot="1800000">
                <a:off x="3470359" y="1634009"/>
                <a:ext cx="1319509" cy="1143861"/>
              </a:xfrm>
              <a:prstGeom prst="triangle">
                <a:avLst/>
              </a:prstGeom>
              <a:solidFill>
                <a:srgbClr val="DEDFE0"/>
              </a:solidFill>
              <a:ln w="6350"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8" name="Circle"/>
              <p:cNvSpPr/>
              <p:nvPr/>
            </p:nvSpPr>
            <p:spPr>
              <a:xfrm flipH="1">
                <a:off x="3461021" y="1507461"/>
                <a:ext cx="422090"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9" name="Circle"/>
              <p:cNvSpPr/>
              <p:nvPr/>
            </p:nvSpPr>
            <p:spPr>
              <a:xfrm flipH="1">
                <a:off x="3843763" y="2168082"/>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0" name="Triangle"/>
              <p:cNvSpPr/>
              <p:nvPr/>
            </p:nvSpPr>
            <p:spPr>
              <a:xfrm rot="1800000">
                <a:off x="3470359" y="312963"/>
                <a:ext cx="1319509" cy="1143861"/>
              </a:xfrm>
              <a:prstGeom prst="triangle">
                <a:avLst/>
              </a:prstGeom>
              <a:solidFill>
                <a:srgbClr val="DEDFE0"/>
              </a:solidFill>
              <a:ln w="6350"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1" name="Circle"/>
              <p:cNvSpPr/>
              <p:nvPr/>
            </p:nvSpPr>
            <p:spPr>
              <a:xfrm flipH="1">
                <a:off x="3843763" y="847036"/>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2" name="Triangle"/>
              <p:cNvSpPr/>
              <p:nvPr/>
            </p:nvSpPr>
            <p:spPr>
              <a:xfrm rot="19800000">
                <a:off x="4044130" y="318647"/>
                <a:ext cx="1319509" cy="1143861"/>
              </a:xfrm>
              <a:prstGeom prst="triangle">
                <a:avLst/>
              </a:prstGeom>
              <a:solidFill>
                <a:srgbClr val="EFEFF0"/>
              </a:solidFill>
              <a:ln w="6350" cap="flat">
                <a:solidFill>
                  <a:srgbClr val="EFEFF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3" name="Circle"/>
              <p:cNvSpPr/>
              <p:nvPr/>
            </p:nvSpPr>
            <p:spPr>
              <a:xfrm flipH="1">
                <a:off x="4608178" y="852720"/>
                <a:ext cx="422090"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4" name="Triangle"/>
              <p:cNvSpPr/>
              <p:nvPr/>
            </p:nvSpPr>
            <p:spPr>
              <a:xfrm rot="1800000">
                <a:off x="4617515" y="979268"/>
                <a:ext cx="1319509" cy="1143861"/>
              </a:xfrm>
              <a:prstGeom prst="triangle">
                <a:avLst/>
              </a:prstGeom>
              <a:solidFill>
                <a:srgbClr val="DEDFE0"/>
              </a:solidFill>
              <a:ln w="6350"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5" name="Circle"/>
              <p:cNvSpPr/>
              <p:nvPr/>
            </p:nvSpPr>
            <p:spPr>
              <a:xfrm flipH="1">
                <a:off x="4990920" y="1513341"/>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6" name="Triangle"/>
              <p:cNvSpPr/>
              <p:nvPr/>
            </p:nvSpPr>
            <p:spPr>
              <a:xfrm rot="19800000">
                <a:off x="1751148" y="309969"/>
                <a:ext cx="1319510" cy="1143860"/>
              </a:xfrm>
              <a:prstGeom prst="triangle">
                <a:avLst/>
              </a:prstGeom>
              <a:solidFill>
                <a:srgbClr val="EFEFF0"/>
              </a:solidFill>
              <a:ln w="6350" cap="flat">
                <a:solidFill>
                  <a:srgbClr val="EFEFF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7" name="Circle"/>
              <p:cNvSpPr/>
              <p:nvPr/>
            </p:nvSpPr>
            <p:spPr>
              <a:xfrm flipH="1">
                <a:off x="2315196" y="844041"/>
                <a:ext cx="422090"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grpSp>
        <p:sp>
          <p:nvSpPr>
            <p:cNvPr id="309" name="Rectangle"/>
            <p:cNvSpPr/>
            <p:nvPr/>
          </p:nvSpPr>
          <p:spPr>
            <a:xfrm>
              <a:off x="1682" y="1038072"/>
              <a:ext cx="5593304" cy="2566922"/>
            </a:xfrm>
            <a:prstGeom prst="rect">
              <a:avLst/>
            </a:prstGeom>
            <a:gradFill flip="none" rotWithShape="1">
              <a:gsLst>
                <a:gs pos="0">
                  <a:srgbClr val="FFFFFF">
                    <a:alpha val="0"/>
                  </a:srgbClr>
                </a:gs>
                <a:gs pos="20382">
                  <a:srgbClr val="FFFFFF">
                    <a:alpha val="45796"/>
                  </a:srgbClr>
                </a:gs>
                <a:gs pos="35803">
                  <a:srgbClr val="FFFFFF">
                    <a:alpha val="72898"/>
                  </a:srgbClr>
                </a:gs>
                <a:gs pos="55434">
                  <a:srgbClr val="FFFFFF"/>
                </a:gs>
              </a:gsLst>
              <a:path path="shape">
                <a:fillToRect l="49659" t="-26178" r="50340" b="126178"/>
              </a:path>
            </a:gra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pic>
          <p:nvPicPr>
            <p:cNvPr id="310" name="Image" descr="Image"/>
            <p:cNvPicPr>
              <a:picLocks noChangeAspect="1"/>
            </p:cNvPicPr>
            <p:nvPr/>
          </p:nvPicPr>
          <p:blipFill>
            <a:blip r:embed="rId2"/>
            <a:stretch>
              <a:fillRect/>
            </a:stretch>
          </p:blipFill>
          <p:spPr>
            <a:xfrm>
              <a:off x="0" y="379670"/>
              <a:ext cx="5603816" cy="2992964"/>
            </a:xfrm>
            <a:prstGeom prst="rect">
              <a:avLst/>
            </a:prstGeom>
            <a:ln w="12700" cap="flat">
              <a:noFill/>
              <a:miter lim="400000"/>
            </a:ln>
            <a:effectLst/>
          </p:spPr>
        </p:pic>
      </p:grpSp>
      <p:sp>
        <p:nvSpPr>
          <p:cNvPr id="312" name="Line"/>
          <p:cNvSpPr/>
          <p:nvPr/>
        </p:nvSpPr>
        <p:spPr>
          <a:xfrm>
            <a:off x="241300" y="10337513"/>
            <a:ext cx="13434202"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4" name="Group"/>
          <p:cNvSpPr/>
          <p:nvPr/>
        </p:nvSpPr>
        <p:spPr>
          <a:xfrm>
            <a:off x="173233" y="1141748"/>
            <a:ext cx="4386853" cy="8987363"/>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dirty="0"/>
          </a:p>
        </p:txBody>
      </p:sp>
      <p:sp>
        <p:nvSpPr>
          <p:cNvPr id="318" name="Line"/>
          <p:cNvSpPr/>
          <p:nvPr/>
        </p:nvSpPr>
        <p:spPr>
          <a:xfrm>
            <a:off x="9426688" y="1190561"/>
            <a:ext cx="4264736"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9" name="Basics"/>
          <p:cNvSpPr txBox="1"/>
          <p:nvPr/>
        </p:nvSpPr>
        <p:spPr>
          <a:xfrm>
            <a:off x="306210" y="1177538"/>
            <a:ext cx="2909451" cy="3334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GB" dirty="0"/>
              <a:t>Basic Workflow Tips</a:t>
            </a:r>
            <a:endParaRPr dirty="0"/>
          </a:p>
        </p:txBody>
      </p:sp>
      <p:sp>
        <p:nvSpPr>
          <p:cNvPr id="320" name="Each cheatsheet should be licensed under the creative commons license.…"/>
          <p:cNvSpPr txBox="1"/>
          <p:nvPr/>
        </p:nvSpPr>
        <p:spPr>
          <a:xfrm>
            <a:off x="216248" y="8637861"/>
            <a:ext cx="4154099" cy="8698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600"/>
              </a:spcBef>
              <a:defRPr b="0">
                <a:solidFill>
                  <a:srgbClr val="000000"/>
                </a:solidFill>
              </a:defRPr>
            </a:pPr>
            <a:r>
              <a:rPr lang="en-GB" dirty="0"/>
              <a:t>When you write code make sure that you check every line of code straight after writing it. As you develop your code you will encounter many mistakes and if you wrote many lines of code without testing, then it may be difficult to figure out which line is faulty.</a:t>
            </a:r>
            <a:endParaRPr b="1" dirty="0"/>
          </a:p>
        </p:txBody>
      </p:sp>
      <p:sp>
        <p:nvSpPr>
          <p:cNvPr id="321" name="Remember that the best cheatsheets are visual—not written—documents. Whenever possible use visual elements to make it easier for readers to find the information they need."/>
          <p:cNvSpPr txBox="1"/>
          <p:nvPr/>
        </p:nvSpPr>
        <p:spPr>
          <a:xfrm>
            <a:off x="1995056" y="1685717"/>
            <a:ext cx="2468663" cy="878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Leave your original data set unchanged. In this way you cannot make any changes that cannot be reversed!</a:t>
            </a:r>
          </a:p>
          <a:p>
            <a:pPr>
              <a:lnSpc>
                <a:spcPct val="90000"/>
              </a:lnSpc>
              <a:spcBef>
                <a:spcPts val="0"/>
              </a:spcBef>
              <a:defRPr b="0">
                <a:solidFill>
                  <a:srgbClr val="000000"/>
                </a:solidFill>
              </a:defRPr>
            </a:pPr>
            <a:r>
              <a:rPr lang="en-GB" dirty="0"/>
              <a:t>Raw data are read-only!</a:t>
            </a:r>
            <a:endParaRPr dirty="0"/>
          </a:p>
        </p:txBody>
      </p:sp>
      <p:sp>
        <p:nvSpPr>
          <p:cNvPr id="322" name="RStudio® is a trademark of RStudio, Inc.  •  CC BY SA Your Name •  your@email.com  •  844-448-1212 • your.website.com •  Learn more at webpage or vignette   •  package version  0.5.0 •  Updated: 2017-01"/>
          <p:cNvSpPr txBox="1"/>
          <p:nvPr/>
        </p:nvSpPr>
        <p:spPr>
          <a:xfrm>
            <a:off x="2353572" y="10347903"/>
            <a:ext cx="11322666" cy="2348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spAutoFit/>
          </a:bodyPr>
          <a:lstStyle/>
          <a:p>
            <a:pPr algn="r">
              <a:lnSpc>
                <a:spcPct val="90000"/>
              </a:lnSpc>
              <a:spcBef>
                <a:spcPts val="0"/>
              </a:spcBef>
              <a:defRPr sz="900" b="0">
                <a:solidFill>
                  <a:srgbClr val="000000"/>
                </a:solidFill>
              </a:defRPr>
            </a:pPr>
            <a:r>
              <a:rPr dirty="0" err="1"/>
              <a:t>RStudio</a:t>
            </a:r>
            <a:r>
              <a:rPr dirty="0"/>
              <a:t>® is a trademark of </a:t>
            </a:r>
            <a:r>
              <a:rPr dirty="0" err="1"/>
              <a:t>RStudio</a:t>
            </a:r>
            <a:r>
              <a:rPr dirty="0"/>
              <a:t>, Inc.  •  </a:t>
            </a:r>
            <a:r>
              <a:rPr dirty="0">
                <a:hlinkClick r:id="rId3"/>
              </a:rPr>
              <a:t>CC BY SA</a:t>
            </a:r>
            <a:r>
              <a:rPr dirty="0"/>
              <a:t> </a:t>
            </a:r>
            <a:r>
              <a:rPr lang="en-GB" dirty="0"/>
              <a:t>Ralf Becker</a:t>
            </a:r>
            <a:r>
              <a:rPr dirty="0"/>
              <a:t> •  </a:t>
            </a:r>
            <a:r>
              <a:rPr lang="en-GB" dirty="0" err="1">
                <a:hlinkClick r:id="rId4"/>
              </a:rPr>
              <a:t>ralffbecker</a:t>
            </a:r>
            <a:r>
              <a:rPr dirty="0">
                <a:hlinkClick r:id="rId4"/>
              </a:rPr>
              <a:t>@</a:t>
            </a:r>
            <a:r>
              <a:rPr lang="en-GB" dirty="0">
                <a:hlinkClick r:id="rId4"/>
              </a:rPr>
              <a:t>g</a:t>
            </a:r>
            <a:r>
              <a:rPr dirty="0">
                <a:hlinkClick r:id="rId4"/>
              </a:rPr>
              <a:t>mail.com</a:t>
            </a:r>
            <a:r>
              <a:rPr dirty="0"/>
              <a:t> • </a:t>
            </a:r>
            <a:r>
              <a:rPr lang="en-GB" dirty="0">
                <a:hlinkClick r:id="rId5"/>
              </a:rPr>
              <a:t>https://datasquad.github.io/ECLR/index.html</a:t>
            </a:r>
            <a:r>
              <a:rPr dirty="0">
                <a:hlinkClick r:id="rId5"/>
              </a:rPr>
              <a:t>   </a:t>
            </a:r>
            <a:r>
              <a:rPr dirty="0"/>
              <a:t>•  Updated: 20</a:t>
            </a:r>
            <a:r>
              <a:rPr lang="en-GB" dirty="0"/>
              <a:t>25</a:t>
            </a:r>
            <a:r>
              <a:rPr dirty="0"/>
              <a:t>-</a:t>
            </a:r>
            <a:r>
              <a:rPr lang="en-GB" dirty="0"/>
              <a:t>10</a:t>
            </a:r>
            <a:endParaRPr dirty="0"/>
          </a:p>
        </p:txBody>
      </p:sp>
      <p:sp>
        <p:nvSpPr>
          <p:cNvPr id="325" name="Line"/>
          <p:cNvSpPr/>
          <p:nvPr/>
        </p:nvSpPr>
        <p:spPr>
          <a:xfrm>
            <a:off x="9435669" y="1706410"/>
            <a:ext cx="4062993" cy="1"/>
          </a:xfrm>
          <a:prstGeom prst="line">
            <a:avLst/>
          </a:prstGeom>
          <a:ln w="12700">
            <a:solidFill>
              <a:srgbClr val="E0E0E0"/>
            </a:solidFill>
            <a:custDash>
              <a:ds d="100000" sp="200000"/>
            </a:custDash>
          </a:ln>
        </p:spPr>
        <p:txBody>
          <a:bodyPr lIns="54570" tIns="54570" rIns="54570" bIns="54570" anchor="ctr"/>
          <a:lstStyle/>
          <a:p>
            <a:pPr>
              <a:lnSpc>
                <a:spcPct val="80000"/>
              </a:lnSpc>
              <a:spcBef>
                <a:spcPts val="600"/>
              </a:spcBef>
              <a:defRPr b="0">
                <a:solidFill>
                  <a:srgbClr val="000000"/>
                </a:solidFill>
              </a:defRPr>
            </a:pPr>
            <a:endParaRPr/>
          </a:p>
        </p:txBody>
      </p:sp>
      <p:sp>
        <p:nvSpPr>
          <p:cNvPr id="330" name="Line"/>
          <p:cNvSpPr/>
          <p:nvPr/>
        </p:nvSpPr>
        <p:spPr>
          <a:xfrm>
            <a:off x="323328" y="1149028"/>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34" name="Three Column Layout: : CHEAT SHEET"/>
          <p:cNvSpPr txBox="1">
            <a:spLocks noGrp="1"/>
          </p:cNvSpPr>
          <p:nvPr>
            <p:ph type="title"/>
          </p:nvPr>
        </p:nvSpPr>
        <p:spPr>
          <a:xfrm>
            <a:off x="275721" y="417690"/>
            <a:ext cx="10898129" cy="803346"/>
          </a:xfrm>
          <a:prstGeom prst="rect">
            <a:avLst/>
          </a:prstGeom>
        </p:spPr>
        <p:txBody>
          <a:bodyPr lIns="0" tIns="0" rIns="0" bIns="0" anchor="t">
            <a:normAutofit/>
          </a:bodyPr>
          <a:lstStyle/>
          <a:p>
            <a:r>
              <a:rPr lang="en-GB" dirty="0"/>
              <a:t>R/</a:t>
            </a:r>
            <a:r>
              <a:rPr lang="en-GB" dirty="0" err="1"/>
              <a:t>RStudio</a:t>
            </a:r>
            <a:r>
              <a:rPr lang="en-GB" dirty="0"/>
              <a:t> – First Steps </a:t>
            </a:r>
            <a:r>
              <a:rPr dirty="0"/>
              <a:t>: : </a:t>
            </a:r>
            <a:r>
              <a:rPr sz="3300" dirty="0">
                <a:latin typeface="Source Sans Pro Semibold"/>
                <a:ea typeface="Source Sans Pro Semibold"/>
                <a:cs typeface="Source Sans Pro Semibold"/>
                <a:sym typeface="Source Sans Pro Semibold"/>
              </a:rPr>
              <a:t>CHEAT SHEET</a:t>
            </a:r>
            <a:r>
              <a:rPr lang="en-GB" sz="3300" dirty="0">
                <a:latin typeface="Source Sans Pro Semibold"/>
                <a:ea typeface="Source Sans Pro Semibold"/>
                <a:cs typeface="Source Sans Pro Semibold"/>
                <a:sym typeface="Source Sans Pro Semibold"/>
              </a:rPr>
              <a:t> </a:t>
            </a:r>
            <a:r>
              <a:rPr lang="en-GB" sz="1100" dirty="0">
                <a:latin typeface="Source Sans Pro Semibold"/>
                <a:ea typeface="Source Sans Pro Semibold"/>
                <a:cs typeface="Source Sans Pro Semibold"/>
                <a:sym typeface="Source Sans Pro Semibold"/>
              </a:rPr>
              <a:t>v1.0</a:t>
            </a:r>
            <a:r>
              <a:rPr dirty="0"/>
              <a:t> </a:t>
            </a:r>
          </a:p>
        </p:txBody>
      </p:sp>
      <p:sp>
        <p:nvSpPr>
          <p:cNvPr id="340" name="Line"/>
          <p:cNvSpPr/>
          <p:nvPr/>
        </p:nvSpPr>
        <p:spPr>
          <a:xfrm>
            <a:off x="4814439" y="1190561"/>
            <a:ext cx="7110861"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58" name="Line"/>
          <p:cNvSpPr/>
          <p:nvPr/>
        </p:nvSpPr>
        <p:spPr>
          <a:xfrm>
            <a:off x="4673539" y="5057711"/>
            <a:ext cx="4309674"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64" name="FONTS"/>
          <p:cNvSpPr txBox="1"/>
          <p:nvPr/>
        </p:nvSpPr>
        <p:spPr>
          <a:xfrm>
            <a:off x="4752752" y="5561767"/>
            <a:ext cx="581891"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Folders</a:t>
            </a:r>
            <a:endParaRPr dirty="0"/>
          </a:p>
        </p:txBody>
      </p:sp>
      <p:sp>
        <p:nvSpPr>
          <p:cNvPr id="382" name="Logistics"/>
          <p:cNvSpPr txBox="1"/>
          <p:nvPr/>
        </p:nvSpPr>
        <p:spPr>
          <a:xfrm>
            <a:off x="4791188" y="5232444"/>
            <a:ext cx="2500685" cy="3334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GB" dirty="0"/>
              <a:t>File Management</a:t>
            </a:r>
            <a:endParaRPr dirty="0"/>
          </a:p>
        </p:txBody>
      </p:sp>
      <p:sp>
        <p:nvSpPr>
          <p:cNvPr id="383" name="Useful Elements"/>
          <p:cNvSpPr txBox="1"/>
          <p:nvPr/>
        </p:nvSpPr>
        <p:spPr>
          <a:xfrm>
            <a:off x="9354493" y="5232672"/>
            <a:ext cx="3605154" cy="3334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GB" dirty="0"/>
              <a:t>Useful </a:t>
            </a:r>
            <a:r>
              <a:rPr lang="en-GB" dirty="0" err="1"/>
              <a:t>RStudio</a:t>
            </a:r>
            <a:r>
              <a:rPr lang="en-GB" dirty="0"/>
              <a:t> Shortcuts</a:t>
            </a:r>
            <a:endParaRPr dirty="0"/>
          </a:p>
        </p:txBody>
      </p:sp>
      <p:sp>
        <p:nvSpPr>
          <p:cNvPr id="384" name="Layout Suggestions"/>
          <p:cNvSpPr txBox="1"/>
          <p:nvPr/>
        </p:nvSpPr>
        <p:spPr>
          <a:xfrm>
            <a:off x="4791188" y="1201420"/>
            <a:ext cx="2856551" cy="3334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GB" dirty="0"/>
              <a:t>The </a:t>
            </a:r>
            <a:r>
              <a:rPr lang="en-GB" dirty="0" err="1"/>
              <a:t>RStudio</a:t>
            </a:r>
            <a:r>
              <a:rPr lang="en-GB" dirty="0"/>
              <a:t> Layout</a:t>
            </a:r>
            <a:endParaRPr dirty="0"/>
          </a:p>
        </p:txBody>
      </p:sp>
      <p:sp>
        <p:nvSpPr>
          <p:cNvPr id="386" name="COPYRIGHT"/>
          <p:cNvSpPr txBox="1"/>
          <p:nvPr/>
        </p:nvSpPr>
        <p:spPr>
          <a:xfrm>
            <a:off x="213311" y="8433347"/>
            <a:ext cx="3002425"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Test your code as frequently as possible</a:t>
            </a:r>
            <a:endParaRPr dirty="0"/>
          </a:p>
        </p:txBody>
      </p:sp>
      <p:pic>
        <p:nvPicPr>
          <p:cNvPr id="448" name="rstudio.png" descr="rstudio.png"/>
          <p:cNvPicPr>
            <a:picLocks noChangeAspect="1"/>
          </p:cNvPicPr>
          <p:nvPr/>
        </p:nvPicPr>
        <p:blipFill>
          <a:blip r:embed="rId6"/>
          <a:stretch>
            <a:fillRect/>
          </a:stretch>
        </p:blipFill>
        <p:spPr>
          <a:xfrm>
            <a:off x="12294644" y="195549"/>
            <a:ext cx="1386697" cy="1607136"/>
          </a:xfrm>
          <a:prstGeom prst="rect">
            <a:avLst/>
          </a:prstGeom>
          <a:ln w="12700">
            <a:miter lim="400000"/>
          </a:ln>
        </p:spPr>
      </p:pic>
      <p:grpSp>
        <p:nvGrpSpPr>
          <p:cNvPr id="159" name="Group"/>
          <p:cNvGrpSpPr/>
          <p:nvPr/>
        </p:nvGrpSpPr>
        <p:grpSpPr>
          <a:xfrm>
            <a:off x="396284" y="1411989"/>
            <a:ext cx="2818197" cy="226109"/>
            <a:chOff x="0" y="0"/>
            <a:chExt cx="2818195" cy="226107"/>
          </a:xfrm>
        </p:grpSpPr>
        <p:sp>
          <p:nvSpPr>
            <p:cNvPr id="160" name="SUBTITLE"/>
            <p:cNvSpPr txBox="1"/>
            <p:nvPr/>
          </p:nvSpPr>
          <p:spPr>
            <a:xfrm>
              <a:off x="0" y="15795"/>
              <a:ext cx="1582163" cy="21031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numCol="1" anchor="ctr">
              <a:spAutoFit/>
            </a:bodyPr>
            <a:lstStyle/>
            <a:p>
              <a:pPr lvl="1" indent="0"/>
              <a:r>
                <a:rPr lang="en-GB" dirty="0"/>
                <a:t>How to treat </a:t>
              </a:r>
              <a:r>
                <a:rPr lang="en-GB" dirty="0" err="1"/>
                <a:t>datafiles</a:t>
              </a:r>
              <a:endParaRPr dirty="0"/>
            </a:p>
          </p:txBody>
        </p:sp>
        <p:sp>
          <p:nvSpPr>
            <p:cNvPr id="161" name="Line"/>
            <p:cNvSpPr/>
            <p:nvPr/>
          </p:nvSpPr>
          <p:spPr>
            <a:xfrm>
              <a:off x="23250" y="0"/>
              <a:ext cx="2794945" cy="0"/>
            </a:xfrm>
            <a:prstGeom prst="line">
              <a:avLst/>
            </a:prstGeom>
            <a:noFill/>
            <a:ln w="12700" cap="flat">
              <a:solidFill>
                <a:srgbClr val="E0E0E0"/>
              </a:solidFill>
              <a:custDash>
                <a:ds d="100000" sp="200000"/>
              </a:custDash>
              <a:round/>
            </a:ln>
            <a:effectLst/>
          </p:spPr>
          <p:txBody>
            <a:bodyPr wrap="square" lIns="54570" tIns="54570" rIns="54570" bIns="54570" numCol="1" anchor="ctr">
              <a:noAutofit/>
            </a:bodyPr>
            <a:lstStyle/>
            <a:p>
              <a:pPr>
                <a:lnSpc>
                  <a:spcPct val="80000"/>
                </a:lnSpc>
                <a:spcBef>
                  <a:spcPts val="600"/>
                </a:spcBef>
                <a:defRPr b="0">
                  <a:solidFill>
                    <a:srgbClr val="000000"/>
                  </a:solidFill>
                </a:defRPr>
              </a:pPr>
              <a:endParaRPr/>
            </a:p>
          </p:txBody>
        </p:sp>
      </p:grpSp>
      <p:grpSp>
        <p:nvGrpSpPr>
          <p:cNvPr id="3" name="Group 2"/>
          <p:cNvGrpSpPr/>
          <p:nvPr/>
        </p:nvGrpSpPr>
        <p:grpSpPr>
          <a:xfrm>
            <a:off x="179757" y="1675518"/>
            <a:ext cx="1547604" cy="878899"/>
            <a:chOff x="269402" y="2231109"/>
            <a:chExt cx="2024225" cy="1462243"/>
          </a:xfrm>
        </p:grpSpPr>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9402" y="2231109"/>
              <a:ext cx="2024225" cy="14622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quot;No&quot; Symbol 1"/>
            <p:cNvSpPr/>
            <p:nvPr/>
          </p:nvSpPr>
          <p:spPr>
            <a:xfrm>
              <a:off x="721031" y="2467719"/>
              <a:ext cx="1120966" cy="1196773"/>
            </a:xfrm>
            <a:prstGeom prst="noSmoking">
              <a:avLst/>
            </a:prstGeom>
            <a:blipFill dpi="0" rotWithShape="1">
              <a:blip r:embed="rId8">
                <a:alphaModFix amt="56000"/>
              </a:blip>
              <a:srcRect/>
              <a:tile tx="0" ty="0" sx="100000" sy="100000" flip="none" algn="tl"/>
            </a:blip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80000"/>
                </a:lnSpc>
                <a:spcBef>
                  <a:spcPts val="0"/>
                </a:spcBef>
                <a:spcAft>
                  <a:spcPts val="0"/>
                </a:spcAft>
                <a:buClrTx/>
                <a:buSzTx/>
                <a:buFontTx/>
                <a:buNone/>
                <a:tabLst/>
              </a:pPr>
              <a:endParaRPr kumimoji="0" lang="en-GB" sz="1200" b="0" i="0" u="none" strike="noStrike" cap="none" spc="0" normalizeH="0" baseline="0">
                <a:ln>
                  <a:noFill/>
                </a:ln>
                <a:solidFill>
                  <a:srgbClr val="000000"/>
                </a:solidFill>
                <a:effectLst/>
                <a:uFillTx/>
                <a:latin typeface="Source Sans Pro"/>
                <a:ea typeface="Source Sans Pro"/>
                <a:cs typeface="Source Sans Pro"/>
                <a:sym typeface="Source Sans Pro"/>
              </a:endParaRPr>
            </a:p>
          </p:txBody>
        </p:sp>
      </p:grpSp>
      <p:sp>
        <p:nvSpPr>
          <p:cNvPr id="167" name="Line"/>
          <p:cNvSpPr/>
          <p:nvPr/>
        </p:nvSpPr>
        <p:spPr>
          <a:xfrm>
            <a:off x="259620" y="4292309"/>
            <a:ext cx="3431683" cy="0"/>
          </a:xfrm>
          <a:prstGeom prst="line">
            <a:avLst/>
          </a:prstGeom>
          <a:noFill/>
          <a:ln w="12700" cap="flat">
            <a:solidFill>
              <a:srgbClr val="E0E0E0"/>
            </a:solidFill>
            <a:custDash>
              <a:ds d="100000" sp="200000"/>
            </a:custDash>
            <a:round/>
          </a:ln>
          <a:effectLst/>
        </p:spPr>
        <p:txBody>
          <a:bodyPr wrap="square" lIns="54570" tIns="54570" rIns="54570" bIns="54570" numCol="1" anchor="ctr">
            <a:noAutofit/>
          </a:bodyPr>
          <a:lstStyle/>
          <a:p>
            <a:pPr>
              <a:lnSpc>
                <a:spcPct val="80000"/>
              </a:lnSpc>
              <a:spcBef>
                <a:spcPts val="600"/>
              </a:spcBef>
              <a:defRPr b="0">
                <a:solidFill>
                  <a:srgbClr val="000000"/>
                </a:solidFill>
              </a:defRPr>
            </a:pPr>
            <a:endParaRPr/>
          </a:p>
        </p:txBody>
      </p:sp>
      <p:sp>
        <p:nvSpPr>
          <p:cNvPr id="169" name="Remember that the best cheatsheets are visual—not written—documents. Whenever possible use visual elements to make it easier for readers to find the information they need."/>
          <p:cNvSpPr txBox="1"/>
          <p:nvPr/>
        </p:nvSpPr>
        <p:spPr>
          <a:xfrm>
            <a:off x="249522" y="2691868"/>
            <a:ext cx="1910942" cy="136815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p>
            <a:pPr>
              <a:lnSpc>
                <a:spcPct val="90000"/>
              </a:lnSpc>
              <a:spcBef>
                <a:spcPts val="0"/>
              </a:spcBef>
              <a:defRPr b="0">
                <a:solidFill>
                  <a:srgbClr val="000000"/>
                </a:solidFill>
              </a:defRPr>
            </a:pPr>
            <a:r>
              <a:rPr lang="en-GB" dirty="0"/>
              <a:t>Instead we  write commands/code in R which instructs R to import the data and make any changes and calculations required. This makes your work reproducible!</a:t>
            </a:r>
            <a:br>
              <a:rPr lang="en-GB" dirty="0"/>
            </a:br>
            <a:r>
              <a:rPr lang="en-GB" dirty="0"/>
              <a:t>These files are called script files.</a:t>
            </a:r>
            <a:endParaRPr dirty="0"/>
          </a:p>
        </p:txBody>
      </p:sp>
      <p:pic>
        <p:nvPicPr>
          <p:cNvPr id="1029"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98673" y="1582402"/>
            <a:ext cx="4682979" cy="3451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72" name="Remember that the best cheatsheets are visual—not written—documents. Whenever possible use visual elements to make it easier for readers to find the information they need."/>
          <p:cNvSpPr txBox="1"/>
          <p:nvPr/>
        </p:nvSpPr>
        <p:spPr>
          <a:xfrm>
            <a:off x="4596702" y="1874555"/>
            <a:ext cx="2077049" cy="8789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In this window you will see your code/script files.</a:t>
            </a:r>
          </a:p>
          <a:p>
            <a:pPr>
              <a:lnSpc>
                <a:spcPct val="90000"/>
              </a:lnSpc>
              <a:spcBef>
                <a:spcPts val="0"/>
              </a:spcBef>
              <a:defRPr b="0">
                <a:solidFill>
                  <a:srgbClr val="000000"/>
                </a:solidFill>
              </a:defRPr>
            </a:pPr>
            <a:r>
              <a:rPr lang="en-GB" dirty="0"/>
              <a:t>This is where you record what you want to do.</a:t>
            </a:r>
            <a:endParaRPr dirty="0"/>
          </a:p>
        </p:txBody>
      </p:sp>
      <p:sp>
        <p:nvSpPr>
          <p:cNvPr id="173" name="FONTS"/>
          <p:cNvSpPr txBox="1"/>
          <p:nvPr/>
        </p:nvSpPr>
        <p:spPr>
          <a:xfrm>
            <a:off x="4696460" y="1658753"/>
            <a:ext cx="1094852"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CODE EDITOR</a:t>
            </a:r>
            <a:endParaRPr dirty="0"/>
          </a:p>
        </p:txBody>
      </p:sp>
      <p:sp>
        <p:nvSpPr>
          <p:cNvPr id="174" name="Remember that the best cheatsheets are visual—not written—documents. Whenever possible use visual elements to make it easier for readers to find the information they need."/>
          <p:cNvSpPr txBox="1"/>
          <p:nvPr/>
        </p:nvSpPr>
        <p:spPr>
          <a:xfrm>
            <a:off x="4608736" y="3589929"/>
            <a:ext cx="2077049" cy="13957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Here you will see any output produced by your code.</a:t>
            </a:r>
          </a:p>
          <a:p>
            <a:pPr>
              <a:lnSpc>
                <a:spcPct val="90000"/>
              </a:lnSpc>
              <a:spcBef>
                <a:spcPts val="0"/>
              </a:spcBef>
              <a:defRPr b="0">
                <a:solidFill>
                  <a:srgbClr val="000000"/>
                </a:solidFill>
              </a:defRPr>
            </a:pPr>
            <a:r>
              <a:rPr lang="en-GB" dirty="0"/>
              <a:t>You can also enter individual commands to either test them before you include them into your script or because you are not planning to include these in your script.</a:t>
            </a:r>
            <a:endParaRPr dirty="0"/>
          </a:p>
        </p:txBody>
      </p:sp>
      <p:sp>
        <p:nvSpPr>
          <p:cNvPr id="175" name="FONTS"/>
          <p:cNvSpPr txBox="1"/>
          <p:nvPr/>
        </p:nvSpPr>
        <p:spPr>
          <a:xfrm>
            <a:off x="4708494" y="3335229"/>
            <a:ext cx="787075"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CONSOLE</a:t>
            </a:r>
            <a:endParaRPr dirty="0"/>
          </a:p>
        </p:txBody>
      </p:sp>
      <p:cxnSp>
        <p:nvCxnSpPr>
          <p:cNvPr id="5" name="Straight Arrow Connector 4"/>
          <p:cNvCxnSpPr/>
          <p:nvPr/>
        </p:nvCxnSpPr>
        <p:spPr>
          <a:xfrm>
            <a:off x="6219463" y="2201013"/>
            <a:ext cx="645486" cy="408426"/>
          </a:xfrm>
          <a:prstGeom prst="straightConnector1">
            <a:avLst/>
          </a:prstGeom>
          <a:noFill/>
          <a:ln w="25400" cap="flat">
            <a:solidFill>
              <a:srgbClr val="0099CC"/>
            </a:solidFill>
            <a:prstDash val="solid"/>
            <a:miter lim="400000"/>
            <a:tailEnd type="arrow"/>
          </a:ln>
          <a:effectLst/>
          <a:sp3d/>
        </p:spPr>
        <p:style>
          <a:lnRef idx="0">
            <a:scrgbClr r="0" g="0" b="0"/>
          </a:lnRef>
          <a:fillRef idx="0">
            <a:scrgbClr r="0" g="0" b="0"/>
          </a:fillRef>
          <a:effectRef idx="0">
            <a:scrgbClr r="0" g="0" b="0"/>
          </a:effectRef>
          <a:fontRef idx="none"/>
        </p:style>
      </p:cxnSp>
      <p:cxnSp>
        <p:nvCxnSpPr>
          <p:cNvPr id="179" name="Straight Arrow Connector 178"/>
          <p:cNvCxnSpPr/>
          <p:nvPr/>
        </p:nvCxnSpPr>
        <p:spPr>
          <a:xfrm>
            <a:off x="6505633" y="3879390"/>
            <a:ext cx="645486" cy="204213"/>
          </a:xfrm>
          <a:prstGeom prst="straightConnector1">
            <a:avLst/>
          </a:prstGeom>
          <a:noFill/>
          <a:ln w="25400" cap="flat">
            <a:solidFill>
              <a:srgbClr val="0099CC"/>
            </a:solidFill>
            <a:prstDash val="solid"/>
            <a:miter lim="400000"/>
            <a:tailEnd type="arrow"/>
          </a:ln>
          <a:effectLst/>
          <a:sp3d/>
        </p:spPr>
        <p:style>
          <a:lnRef idx="0">
            <a:scrgbClr r="0" g="0" b="0"/>
          </a:lnRef>
          <a:fillRef idx="0">
            <a:scrgbClr r="0" g="0" b="0"/>
          </a:fillRef>
          <a:effectRef idx="0">
            <a:scrgbClr r="0" g="0" b="0"/>
          </a:effectRef>
          <a:fontRef idx="none"/>
        </p:style>
      </p:cxnSp>
      <p:sp>
        <p:nvSpPr>
          <p:cNvPr id="181" name="Remember that the best cheatsheets are visual—not written—documents. Whenever possible use visual elements to make it easier for readers to find the information they need."/>
          <p:cNvSpPr txBox="1"/>
          <p:nvPr/>
        </p:nvSpPr>
        <p:spPr>
          <a:xfrm>
            <a:off x="11501804" y="1796878"/>
            <a:ext cx="2077049" cy="571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In this tab you can find a history of the commands you used.</a:t>
            </a:r>
            <a:endParaRPr dirty="0"/>
          </a:p>
        </p:txBody>
      </p:sp>
      <p:sp>
        <p:nvSpPr>
          <p:cNvPr id="182" name="FONTS"/>
          <p:cNvSpPr txBox="1"/>
          <p:nvPr/>
        </p:nvSpPr>
        <p:spPr>
          <a:xfrm>
            <a:off x="11601562" y="1581076"/>
            <a:ext cx="710131"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HISTORY</a:t>
            </a:r>
            <a:endParaRPr dirty="0"/>
          </a:p>
        </p:txBody>
      </p:sp>
      <p:sp>
        <p:nvSpPr>
          <p:cNvPr id="183" name="Remember that the best cheatsheets are visual—not written—documents. Whenever possible use visual elements to make it easier for readers to find the information they need."/>
          <p:cNvSpPr txBox="1"/>
          <p:nvPr/>
        </p:nvSpPr>
        <p:spPr>
          <a:xfrm>
            <a:off x="11521504" y="2577155"/>
            <a:ext cx="2077049" cy="571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Here you can see all objects/variables that have been loaded or created by your code.</a:t>
            </a:r>
            <a:endParaRPr dirty="0"/>
          </a:p>
        </p:txBody>
      </p:sp>
      <p:sp>
        <p:nvSpPr>
          <p:cNvPr id="184" name="FONTS"/>
          <p:cNvSpPr txBox="1"/>
          <p:nvPr/>
        </p:nvSpPr>
        <p:spPr>
          <a:xfrm>
            <a:off x="11621262" y="2361353"/>
            <a:ext cx="1162178"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ENVIRONMENT</a:t>
            </a:r>
            <a:endParaRPr dirty="0"/>
          </a:p>
        </p:txBody>
      </p:sp>
      <p:cxnSp>
        <p:nvCxnSpPr>
          <p:cNvPr id="185" name="Straight Arrow Connector 184"/>
          <p:cNvCxnSpPr/>
          <p:nvPr/>
        </p:nvCxnSpPr>
        <p:spPr>
          <a:xfrm flipH="1">
            <a:off x="10208802" y="1706411"/>
            <a:ext cx="1293002" cy="398261"/>
          </a:xfrm>
          <a:prstGeom prst="straightConnector1">
            <a:avLst/>
          </a:prstGeom>
          <a:noFill/>
          <a:ln w="25400" cap="flat">
            <a:solidFill>
              <a:srgbClr val="0099CC"/>
            </a:solidFill>
            <a:prstDash val="solid"/>
            <a:miter lim="400000"/>
            <a:tailEnd type="arrow"/>
          </a:ln>
          <a:effectLst/>
          <a:sp3d/>
        </p:spPr>
        <p:style>
          <a:lnRef idx="0">
            <a:scrgbClr r="0" g="0" b="0"/>
          </a:lnRef>
          <a:fillRef idx="0">
            <a:scrgbClr r="0" g="0" b="0"/>
          </a:fillRef>
          <a:effectRef idx="0">
            <a:scrgbClr r="0" g="0" b="0"/>
          </a:effectRef>
          <a:fontRef idx="none"/>
        </p:style>
      </p:cxnSp>
      <p:cxnSp>
        <p:nvCxnSpPr>
          <p:cNvPr id="187" name="Straight Arrow Connector 186"/>
          <p:cNvCxnSpPr/>
          <p:nvPr/>
        </p:nvCxnSpPr>
        <p:spPr>
          <a:xfrm flipH="1" flipV="1">
            <a:off x="9947654" y="2252451"/>
            <a:ext cx="1433998" cy="214059"/>
          </a:xfrm>
          <a:prstGeom prst="straightConnector1">
            <a:avLst/>
          </a:prstGeom>
          <a:noFill/>
          <a:ln w="25400" cap="flat">
            <a:solidFill>
              <a:srgbClr val="0099CC"/>
            </a:solidFill>
            <a:prstDash val="solid"/>
            <a:miter lim="400000"/>
            <a:tailEnd type="arrow"/>
          </a:ln>
          <a:effectLst/>
          <a:sp3d/>
        </p:spPr>
        <p:style>
          <a:lnRef idx="0">
            <a:scrgbClr r="0" g="0" b="0"/>
          </a:lnRef>
          <a:fillRef idx="0">
            <a:scrgbClr r="0" g="0" b="0"/>
          </a:fillRef>
          <a:effectRef idx="0">
            <a:scrgbClr r="0" g="0" b="0"/>
          </a:effectRef>
          <a:fontRef idx="none"/>
        </p:style>
      </p:cxnSp>
      <p:sp>
        <p:nvSpPr>
          <p:cNvPr id="190" name="Remember that the best cheatsheets are visual—not written—documents. Whenever possible use visual elements to make it easier for readers to find the information they need."/>
          <p:cNvSpPr txBox="1"/>
          <p:nvPr/>
        </p:nvSpPr>
        <p:spPr>
          <a:xfrm>
            <a:off x="11521504" y="3297235"/>
            <a:ext cx="2077049" cy="571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Shows help files if you type “?read.csv” (or any other function name) into the console.</a:t>
            </a:r>
            <a:endParaRPr dirty="0"/>
          </a:p>
        </p:txBody>
      </p:sp>
      <p:sp>
        <p:nvSpPr>
          <p:cNvPr id="191" name="FONTS"/>
          <p:cNvSpPr txBox="1"/>
          <p:nvPr/>
        </p:nvSpPr>
        <p:spPr>
          <a:xfrm>
            <a:off x="11621262" y="3081433"/>
            <a:ext cx="359073"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Help</a:t>
            </a:r>
            <a:endParaRPr dirty="0"/>
          </a:p>
        </p:txBody>
      </p:sp>
      <p:sp>
        <p:nvSpPr>
          <p:cNvPr id="192" name="Remember that the best cheatsheets are visual—not written—documents. Whenever possible use visual elements to make it easier for readers to find the information they need."/>
          <p:cNvSpPr txBox="1"/>
          <p:nvPr/>
        </p:nvSpPr>
        <p:spPr>
          <a:xfrm>
            <a:off x="11521504" y="4017315"/>
            <a:ext cx="2077049" cy="516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In this tab you manage (install, update) your packages.</a:t>
            </a:r>
            <a:endParaRPr dirty="0"/>
          </a:p>
        </p:txBody>
      </p:sp>
      <p:sp>
        <p:nvSpPr>
          <p:cNvPr id="193" name="FONTS"/>
          <p:cNvSpPr txBox="1"/>
          <p:nvPr/>
        </p:nvSpPr>
        <p:spPr>
          <a:xfrm>
            <a:off x="11621262" y="3801513"/>
            <a:ext cx="896079"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PACKAGES</a:t>
            </a:r>
            <a:endParaRPr dirty="0"/>
          </a:p>
        </p:txBody>
      </p:sp>
      <p:cxnSp>
        <p:nvCxnSpPr>
          <p:cNvPr id="198" name="Straight Arrow Connector 197"/>
          <p:cNvCxnSpPr/>
          <p:nvPr/>
        </p:nvCxnSpPr>
        <p:spPr>
          <a:xfrm flipH="1">
            <a:off x="10444154" y="3148794"/>
            <a:ext cx="1077350" cy="40709"/>
          </a:xfrm>
          <a:prstGeom prst="straightConnector1">
            <a:avLst/>
          </a:prstGeom>
          <a:noFill/>
          <a:ln w="25400" cap="flat">
            <a:solidFill>
              <a:srgbClr val="0099CC"/>
            </a:solidFill>
            <a:prstDash val="solid"/>
            <a:miter lim="400000"/>
            <a:tailEnd type="arrow"/>
          </a:ln>
          <a:effectLst/>
          <a:sp3d/>
        </p:spPr>
        <p:style>
          <a:lnRef idx="0">
            <a:scrgbClr r="0" g="0" b="0"/>
          </a:lnRef>
          <a:fillRef idx="0">
            <a:scrgbClr r="0" g="0" b="0"/>
          </a:fillRef>
          <a:effectRef idx="0">
            <a:scrgbClr r="0" g="0" b="0"/>
          </a:effectRef>
          <a:fontRef idx="none"/>
        </p:style>
      </p:cxnSp>
      <p:sp>
        <p:nvSpPr>
          <p:cNvPr id="201" name="Remember that the best cheatsheets are visual—not written—documents. Whenever possible use visual elements to make it easier for readers to find the information they need."/>
          <p:cNvSpPr txBox="1"/>
          <p:nvPr/>
        </p:nvSpPr>
        <p:spPr>
          <a:xfrm>
            <a:off x="11521504" y="4665387"/>
            <a:ext cx="2077049" cy="51608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The files and folders in your working directory appear here.</a:t>
            </a:r>
            <a:endParaRPr dirty="0"/>
          </a:p>
        </p:txBody>
      </p:sp>
      <p:sp>
        <p:nvSpPr>
          <p:cNvPr id="202" name="FONTS"/>
          <p:cNvSpPr txBox="1"/>
          <p:nvPr/>
        </p:nvSpPr>
        <p:spPr>
          <a:xfrm>
            <a:off x="11621262" y="4449585"/>
            <a:ext cx="463268"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FILES</a:t>
            </a:r>
            <a:endParaRPr dirty="0"/>
          </a:p>
        </p:txBody>
      </p:sp>
      <p:sp>
        <p:nvSpPr>
          <p:cNvPr id="204" name="SUBTITLE"/>
          <p:cNvSpPr txBox="1"/>
          <p:nvPr/>
        </p:nvSpPr>
        <p:spPr>
          <a:xfrm>
            <a:off x="231073" y="6308533"/>
            <a:ext cx="1208153" cy="2103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2700" tIns="12700" rIns="12700" bIns="12700" numCol="1" anchor="ctr">
            <a:spAutoFit/>
          </a:bodyPr>
          <a:lstStyle/>
          <a:p>
            <a:pPr lvl="1" indent="0"/>
            <a:r>
              <a:rPr lang="en-GB" dirty="0"/>
              <a:t>Commenting</a:t>
            </a:r>
            <a:endParaRPr dirty="0"/>
          </a:p>
        </p:txBody>
      </p:sp>
      <p:sp>
        <p:nvSpPr>
          <p:cNvPr id="205" name="Remember that the best cheatsheets are visual—not written—documents. Whenever possible use visual elements to make it easier for readers to find the information they need."/>
          <p:cNvSpPr txBox="1"/>
          <p:nvPr/>
        </p:nvSpPr>
        <p:spPr>
          <a:xfrm>
            <a:off x="4608736" y="5777790"/>
            <a:ext cx="4207433" cy="113187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Make sure you know where your files are. It is advisable to create a folder into which you save all files that you use for a particular project. If your project has many files you should consider creating sensible subfolders  such as “code”, “data”, “images”, “documentation”. This will make you file management much easier.</a:t>
            </a:r>
            <a:endParaRPr dirty="0"/>
          </a:p>
        </p:txBody>
      </p:sp>
      <p:sp>
        <p:nvSpPr>
          <p:cNvPr id="206" name="FONTS"/>
          <p:cNvSpPr txBox="1"/>
          <p:nvPr/>
        </p:nvSpPr>
        <p:spPr>
          <a:xfrm>
            <a:off x="4752752" y="8061796"/>
            <a:ext cx="1532471"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err="1"/>
              <a:t>RStudio</a:t>
            </a:r>
            <a:r>
              <a:rPr lang="en-GB" dirty="0"/>
              <a:t> Project files</a:t>
            </a:r>
            <a:endParaRPr dirty="0"/>
          </a:p>
        </p:txBody>
      </p:sp>
      <p:sp>
        <p:nvSpPr>
          <p:cNvPr id="207" name="Remember that the best cheatsheets are visual—not written—documents. Whenever possible use visual elements to make it easier for readers to find the information they need."/>
          <p:cNvSpPr txBox="1"/>
          <p:nvPr/>
        </p:nvSpPr>
        <p:spPr>
          <a:xfrm>
            <a:off x="4608736" y="8277820"/>
            <a:ext cx="4207433" cy="211907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You should consider using </a:t>
            </a:r>
            <a:r>
              <a:rPr lang="en-GB" dirty="0" err="1"/>
              <a:t>RStudio</a:t>
            </a:r>
            <a:r>
              <a:rPr lang="en-GB" dirty="0"/>
              <a:t> project files. This will facilitate file management and make references to data and other files more straightforward. In particular you will not have to set the working directory to your current folder as, when you open a project, </a:t>
            </a:r>
            <a:r>
              <a:rPr lang="en-GB" dirty="0" err="1"/>
              <a:t>Rstudio</a:t>
            </a:r>
            <a:r>
              <a:rPr lang="en-GB" dirty="0"/>
              <a:t> will automatically choses the project folder as its working directory. Hence there is no need to change the working directory if you are working on different computers.</a:t>
            </a:r>
            <a:br>
              <a:rPr lang="en-GB" dirty="0"/>
            </a:br>
            <a:r>
              <a:rPr lang="en-GB" dirty="0"/>
              <a:t>This is particularly useful if you want to share your work with others. But it also greatly facilitates the management  folders. </a:t>
            </a:r>
          </a:p>
          <a:p>
            <a:pPr>
              <a:lnSpc>
                <a:spcPct val="90000"/>
              </a:lnSpc>
              <a:spcBef>
                <a:spcPts val="0"/>
              </a:spcBef>
              <a:defRPr b="0">
                <a:solidFill>
                  <a:srgbClr val="000000"/>
                </a:solidFill>
              </a:defRPr>
            </a:pPr>
            <a:r>
              <a:rPr lang="en-GB" dirty="0"/>
              <a:t>Help on how to use them is available from </a:t>
            </a:r>
            <a:r>
              <a:rPr lang="en-GB" dirty="0" err="1">
                <a:hlinkClick r:id="rId10"/>
              </a:rPr>
              <a:t>RStudio</a:t>
            </a:r>
            <a:r>
              <a:rPr lang="en-GB" dirty="0">
                <a:hlinkClick r:id="rId10"/>
              </a:rPr>
              <a:t> </a:t>
            </a:r>
            <a:r>
              <a:rPr lang="en-GB" dirty="0"/>
              <a:t>or </a:t>
            </a:r>
            <a:r>
              <a:rPr lang="en-GB" dirty="0" err="1">
                <a:hlinkClick r:id="rId11"/>
              </a:rPr>
              <a:t>Softwarecarpentry</a:t>
            </a:r>
            <a:r>
              <a:rPr lang="en-GB" dirty="0"/>
              <a:t>.</a:t>
            </a:r>
            <a:endParaRPr dirty="0"/>
          </a:p>
        </p:txBody>
      </p:sp>
      <p:cxnSp>
        <p:nvCxnSpPr>
          <p:cNvPr id="210" name="Straight Arrow Connector 209"/>
          <p:cNvCxnSpPr/>
          <p:nvPr/>
        </p:nvCxnSpPr>
        <p:spPr>
          <a:xfrm flipH="1" flipV="1">
            <a:off x="10231214" y="3341903"/>
            <a:ext cx="1290290" cy="537487"/>
          </a:xfrm>
          <a:prstGeom prst="straightConnector1">
            <a:avLst/>
          </a:prstGeom>
          <a:noFill/>
          <a:ln w="25400" cap="flat">
            <a:solidFill>
              <a:srgbClr val="0099CC"/>
            </a:solidFill>
            <a:prstDash val="solid"/>
            <a:miter lim="400000"/>
            <a:tailEnd type="arrow"/>
          </a:ln>
          <a:effectLst/>
          <a:sp3d/>
        </p:spPr>
        <p:style>
          <a:lnRef idx="0">
            <a:scrgbClr r="0" g="0" b="0"/>
          </a:lnRef>
          <a:fillRef idx="0">
            <a:scrgbClr r="0" g="0" b="0"/>
          </a:fillRef>
          <a:effectRef idx="0">
            <a:scrgbClr r="0" g="0" b="0"/>
          </a:effectRef>
          <a:fontRef idx="none"/>
        </p:style>
      </p:cxnSp>
      <p:cxnSp>
        <p:nvCxnSpPr>
          <p:cNvPr id="213" name="Straight Arrow Connector 212"/>
          <p:cNvCxnSpPr/>
          <p:nvPr/>
        </p:nvCxnSpPr>
        <p:spPr>
          <a:xfrm flipH="1" flipV="1">
            <a:off x="9649296" y="3375944"/>
            <a:ext cx="1872209" cy="1157461"/>
          </a:xfrm>
          <a:prstGeom prst="straightConnector1">
            <a:avLst/>
          </a:prstGeom>
          <a:noFill/>
          <a:ln w="25400" cap="flat">
            <a:solidFill>
              <a:srgbClr val="0099CC"/>
            </a:solidFill>
            <a:prstDash val="solid"/>
            <a:miter lim="400000"/>
            <a:tailEnd type="arrow"/>
          </a:ln>
          <a:effectLst/>
          <a:sp3d/>
        </p:spPr>
        <p:style>
          <a:lnRef idx="0">
            <a:scrgbClr r="0" g="0" b="0"/>
          </a:lnRef>
          <a:fillRef idx="0">
            <a:scrgbClr r="0" g="0" b="0"/>
          </a:fillRef>
          <a:effectRef idx="0">
            <a:scrgbClr r="0" g="0" b="0"/>
          </a:effectRef>
          <a:fontRef idx="none"/>
        </p:style>
      </p:cxnSp>
      <p:sp>
        <p:nvSpPr>
          <p:cNvPr id="92" name="FONTS"/>
          <p:cNvSpPr txBox="1"/>
          <p:nvPr/>
        </p:nvSpPr>
        <p:spPr>
          <a:xfrm>
            <a:off x="4752752" y="6909668"/>
            <a:ext cx="1359346"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Working Directory</a:t>
            </a:r>
            <a:endParaRPr dirty="0"/>
          </a:p>
        </p:txBody>
      </p:sp>
      <p:sp>
        <p:nvSpPr>
          <p:cNvPr id="93" name="Remember that the best cheatsheets are visual—not written—documents. Whenever possible use visual elements to make it easier for readers to find the information they need."/>
          <p:cNvSpPr txBox="1"/>
          <p:nvPr/>
        </p:nvSpPr>
        <p:spPr>
          <a:xfrm>
            <a:off x="4608736" y="7125692"/>
            <a:ext cx="2219640" cy="4320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You should let R know what directory you are working off. </a:t>
            </a:r>
            <a:endParaRPr dirty="0"/>
          </a:p>
        </p:txBody>
      </p:sp>
      <p:pic>
        <p:nvPicPr>
          <p:cNvPr id="4"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04583" y="7075322"/>
            <a:ext cx="1952625" cy="323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5" name="Remember that the best cheatsheets are visual—not written—documents. Whenever possible use visual elements to make it easier for readers to find the information they need."/>
          <p:cNvSpPr txBox="1"/>
          <p:nvPr/>
        </p:nvSpPr>
        <p:spPr>
          <a:xfrm>
            <a:off x="4608736" y="7485732"/>
            <a:ext cx="3996388" cy="57606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defRPr b="0">
                <a:solidFill>
                  <a:srgbClr val="000000"/>
                </a:solidFill>
              </a:defRPr>
            </a:pPr>
            <a:r>
              <a:rPr lang="en-GB" dirty="0"/>
              <a:t>We call this the working directory and you set it with the “</a:t>
            </a:r>
            <a:r>
              <a:rPr lang="en-GB" dirty="0" err="1"/>
              <a:t>setwd</a:t>
            </a:r>
            <a:r>
              <a:rPr lang="en-GB" dirty="0"/>
              <a:t>” command. Put the full file path </a:t>
            </a:r>
            <a:r>
              <a:rPr lang="en-GB" dirty="0" err="1"/>
              <a:t>inbetween</a:t>
            </a:r>
            <a:r>
              <a:rPr lang="en-GB" dirty="0"/>
              <a:t> the quotation marks.</a:t>
            </a:r>
            <a:endParaRPr dirty="0"/>
          </a:p>
        </p:txBody>
      </p:sp>
      <p:sp>
        <p:nvSpPr>
          <p:cNvPr id="96" name="Use visualizations to explain concepts quickly and concisely."/>
          <p:cNvSpPr txBox="1"/>
          <p:nvPr/>
        </p:nvSpPr>
        <p:spPr>
          <a:xfrm>
            <a:off x="2614222" y="4570777"/>
            <a:ext cx="1907809" cy="11867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buClr>
                <a:srgbClr val="000000"/>
              </a:buClr>
              <a:buSzPct val="100000"/>
              <a:defRPr b="0">
                <a:solidFill>
                  <a:srgbClr val="000000"/>
                </a:solidFill>
              </a:defRPr>
            </a:pPr>
            <a:r>
              <a:rPr lang="en-GB" dirty="0"/>
              <a:t>The way to work in R is by using scripts. These are files in which you collect all the actions you perform on the data (data cleaning, summary stats, graphing, etc.). </a:t>
            </a:r>
            <a:endParaRPr dirty="0"/>
          </a:p>
        </p:txBody>
      </p:sp>
      <p:sp>
        <p:nvSpPr>
          <p:cNvPr id="98" name="SUBTITLE"/>
          <p:cNvSpPr txBox="1"/>
          <p:nvPr/>
        </p:nvSpPr>
        <p:spPr>
          <a:xfrm>
            <a:off x="234066" y="4296534"/>
            <a:ext cx="3028073" cy="210314"/>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numCol="1" anchor="ctr">
            <a:spAutoFit/>
          </a:bodyPr>
          <a:lstStyle/>
          <a:p>
            <a:pPr lvl="1" indent="0"/>
            <a:r>
              <a:rPr lang="en-GB" dirty="0"/>
              <a:t>Save your work and make it reproducible</a:t>
            </a:r>
            <a:endParaRPr dirty="0"/>
          </a:p>
        </p:txBody>
      </p:sp>
      <p:sp>
        <p:nvSpPr>
          <p:cNvPr id="101" name="Use visualizations to explain concepts quickly and concisely."/>
          <p:cNvSpPr txBox="1"/>
          <p:nvPr/>
        </p:nvSpPr>
        <p:spPr>
          <a:xfrm>
            <a:off x="259620" y="5804477"/>
            <a:ext cx="4240701" cy="65891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buClr>
                <a:srgbClr val="000000"/>
              </a:buClr>
              <a:buSzPct val="100000"/>
              <a:defRPr b="0">
                <a:solidFill>
                  <a:srgbClr val="000000"/>
                </a:solidFill>
              </a:defRPr>
            </a:pPr>
            <a:r>
              <a:rPr lang="en-GB" dirty="0"/>
              <a:t>This is a record of your work which you can pass on to others but also makes it easy to re-run the analysis, e.g. after fixing a mistake or after obtaining additional data.</a:t>
            </a:r>
            <a:endParaRPr dirty="0"/>
          </a:p>
        </p:txBody>
      </p:sp>
      <p:sp>
        <p:nvSpPr>
          <p:cNvPr id="103" name="TextBox 102"/>
          <p:cNvSpPr txBox="1"/>
          <p:nvPr/>
        </p:nvSpPr>
        <p:spPr>
          <a:xfrm>
            <a:off x="504280" y="4003270"/>
            <a:ext cx="3888432" cy="276999"/>
          </a:xfrm>
          <a:prstGeom prst="rect">
            <a:avLst/>
          </a:prstGeom>
          <a:noFill/>
        </p:spPr>
        <p:txBody>
          <a:bodyPr wrap="square" rtlCol="0">
            <a:spAutoFit/>
          </a:bodyPr>
          <a:lstStyle/>
          <a:p>
            <a:r>
              <a:rPr lang="en-GB" dirty="0">
                <a:solidFill>
                  <a:srgbClr val="FF0000"/>
                </a:solidFill>
              </a:rPr>
              <a:t>NEVER WRITE OVER YOUR ORIGINAL DATAFILE</a:t>
            </a:r>
          </a:p>
        </p:txBody>
      </p:sp>
      <p:graphicFrame>
        <p:nvGraphicFramePr>
          <p:cNvPr id="9" name="Table 8"/>
          <p:cNvGraphicFramePr>
            <a:graphicFrameLocks noGrp="1"/>
          </p:cNvGraphicFramePr>
          <p:nvPr>
            <p:extLst>
              <p:ext uri="{D42A27DB-BD31-4B8C-83A1-F6EECF244321}">
                <p14:modId xmlns:p14="http://schemas.microsoft.com/office/powerpoint/2010/main" val="684090312"/>
              </p:ext>
            </p:extLst>
          </p:nvPr>
        </p:nvGraphicFramePr>
        <p:xfrm>
          <a:off x="9407696" y="5650692"/>
          <a:ext cx="4190856" cy="3898724"/>
        </p:xfrm>
        <a:graphic>
          <a:graphicData uri="http://schemas.openxmlformats.org/drawingml/2006/table">
            <a:tbl>
              <a:tblPr firstRow="1" bandRow="1">
                <a:tableStyleId>{5940675A-B579-460E-94D1-54222C63F5DA}</a:tableStyleId>
              </a:tblPr>
              <a:tblGrid>
                <a:gridCol w="1105696">
                  <a:extLst>
                    <a:ext uri="{9D8B030D-6E8A-4147-A177-3AD203B41FA5}">
                      <a16:colId xmlns:a16="http://schemas.microsoft.com/office/drawing/2014/main" val="20000"/>
                    </a:ext>
                  </a:extLst>
                </a:gridCol>
                <a:gridCol w="864096">
                  <a:extLst>
                    <a:ext uri="{9D8B030D-6E8A-4147-A177-3AD203B41FA5}">
                      <a16:colId xmlns:a16="http://schemas.microsoft.com/office/drawing/2014/main" val="20001"/>
                    </a:ext>
                  </a:extLst>
                </a:gridCol>
                <a:gridCol w="936104">
                  <a:extLst>
                    <a:ext uri="{9D8B030D-6E8A-4147-A177-3AD203B41FA5}">
                      <a16:colId xmlns:a16="http://schemas.microsoft.com/office/drawing/2014/main" val="20002"/>
                    </a:ext>
                  </a:extLst>
                </a:gridCol>
                <a:gridCol w="1284960">
                  <a:extLst>
                    <a:ext uri="{9D8B030D-6E8A-4147-A177-3AD203B41FA5}">
                      <a16:colId xmlns:a16="http://schemas.microsoft.com/office/drawing/2014/main" val="20003"/>
                    </a:ext>
                  </a:extLst>
                </a:gridCol>
              </a:tblGrid>
              <a:tr h="271115">
                <a:tc>
                  <a:txBody>
                    <a:bodyPr/>
                    <a:lstStyle/>
                    <a:p>
                      <a:r>
                        <a:rPr lang="en-GB" sz="1200" dirty="0"/>
                        <a:t>What</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dirty="0"/>
                        <a:t>Icon</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dirty="0"/>
                        <a:t>Windows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dirty="0"/>
                        <a:t>Mac</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57461">
                <a:tc>
                  <a:txBody>
                    <a:bodyPr/>
                    <a:lstStyle/>
                    <a:p>
                      <a:r>
                        <a:rPr lang="en-GB" sz="1200" dirty="0"/>
                        <a:t>Save script</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584200" rtl="0" eaLnBrk="1" fontAlgn="auto" latinLnBrk="0" hangingPunct="1">
                        <a:lnSpc>
                          <a:spcPct val="100000"/>
                        </a:lnSpc>
                        <a:spcBef>
                          <a:spcPts val="0"/>
                        </a:spcBef>
                        <a:spcAft>
                          <a:spcPts val="0"/>
                        </a:spcAft>
                        <a:buClrTx/>
                        <a:buSzTx/>
                        <a:buFontTx/>
                        <a:buNone/>
                        <a:tabLst/>
                        <a:defRPr/>
                      </a:pPr>
                      <a:r>
                        <a:rPr lang="en-GB" sz="1200" dirty="0"/>
                        <a:t>CTRL+S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GB" sz="1200" dirty="0"/>
                        <a:t>COMMAND+S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57461">
                <a:tc>
                  <a:txBody>
                    <a:bodyPr/>
                    <a:lstStyle/>
                    <a:p>
                      <a:r>
                        <a:rPr lang="en-GB" sz="1200" dirty="0"/>
                        <a:t>Run entire script</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n-GB" sz="1200" dirty="0"/>
                        <a:t>CTRL+</a:t>
                      </a:r>
                      <a:br>
                        <a:rPr lang="en-GB" sz="1200" dirty="0"/>
                      </a:br>
                      <a:r>
                        <a:rPr lang="en-GB" sz="1200" dirty="0"/>
                        <a:t>SHIFT+S</a:t>
                      </a:r>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indent="0" algn="ctr" defTabSz="584200" rtl="0" eaLnBrk="1" fontAlgn="auto" latinLnBrk="0" hangingPunct="1">
                        <a:lnSpc>
                          <a:spcPct val="100000"/>
                        </a:lnSpc>
                        <a:spcBef>
                          <a:spcPts val="0"/>
                        </a:spcBef>
                        <a:spcAft>
                          <a:spcPts val="0"/>
                        </a:spcAft>
                        <a:buClrTx/>
                        <a:buSzTx/>
                        <a:buFontTx/>
                        <a:buNone/>
                        <a:tabLst/>
                        <a:defRPr/>
                      </a:pPr>
                      <a:r>
                        <a:rPr lang="en-GB" sz="1200" dirty="0"/>
                        <a:t>COMMAND+</a:t>
                      </a:r>
                      <a:br>
                        <a:rPr lang="en-GB" sz="1200" dirty="0"/>
                      </a:br>
                      <a:r>
                        <a:rPr lang="en-GB" sz="1200" dirty="0"/>
                        <a:t>SHIFT+S</a:t>
                      </a:r>
                    </a:p>
                    <a:p>
                      <a:endParaRPr lang="en-GB" sz="1200" dirty="0"/>
                    </a:p>
                  </a:txBody>
                  <a:tcP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57461">
                <a:tc>
                  <a:txBody>
                    <a:bodyPr/>
                    <a:lstStyle/>
                    <a:p>
                      <a:r>
                        <a:rPr lang="en-GB" sz="1200" dirty="0"/>
                        <a:t>Run current line/selection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indent="0" algn="ctr" defTabSz="584200" rtl="0" eaLnBrk="1" fontAlgn="auto" latinLnBrk="0" hangingPunct="1">
                        <a:lnSpc>
                          <a:spcPct val="100000"/>
                        </a:lnSpc>
                        <a:spcBef>
                          <a:spcPts val="0"/>
                        </a:spcBef>
                        <a:spcAft>
                          <a:spcPts val="0"/>
                        </a:spcAft>
                        <a:buClrTx/>
                        <a:buSzTx/>
                        <a:buFontTx/>
                        <a:buNone/>
                        <a:tabLst/>
                        <a:defRPr/>
                      </a:pPr>
                      <a:r>
                        <a:rPr lang="en-GB" sz="1200" dirty="0"/>
                        <a:t>CTRL+</a:t>
                      </a:r>
                      <a:br>
                        <a:rPr lang="en-GB" sz="1200" dirty="0"/>
                      </a:br>
                      <a:r>
                        <a:rPr lang="en-GB" sz="1200" dirty="0"/>
                        <a:t>ENTER</a:t>
                      </a:r>
                    </a:p>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COMMAND+ ENTER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57461">
                <a:tc>
                  <a:txBody>
                    <a:bodyPr/>
                    <a:lstStyle/>
                    <a:p>
                      <a:r>
                        <a:rPr lang="en-GB" sz="1200" dirty="0"/>
                        <a:t>Clear Console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CTRL+L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CPMMAND+L</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57461">
                <a:tc>
                  <a:txBody>
                    <a:bodyPr/>
                    <a:lstStyle/>
                    <a:p>
                      <a:r>
                        <a:rPr lang="en-GB" sz="1200" dirty="0"/>
                        <a:t>Undo</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CTRL</a:t>
                      </a:r>
                      <a:r>
                        <a:rPr lang="en-GB" sz="1200" baseline="0" dirty="0"/>
                        <a:t>+Z</a:t>
                      </a:r>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COMMAND+Z</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57461">
                <a:tc>
                  <a:txBody>
                    <a:bodyPr/>
                    <a:lstStyle/>
                    <a:p>
                      <a:r>
                        <a:rPr lang="en-GB" sz="1200" dirty="0"/>
                        <a:t>Re-indent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CTRL+I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COMMAND+I</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57461">
                <a:tc>
                  <a:txBody>
                    <a:bodyPr/>
                    <a:lstStyle/>
                    <a:p>
                      <a:r>
                        <a:rPr lang="en-GB" sz="1200" dirty="0"/>
                        <a:t>Clear Workspace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357461">
                <a:tc>
                  <a:txBody>
                    <a:bodyPr/>
                    <a:lstStyle/>
                    <a:p>
                      <a:r>
                        <a:rPr lang="en-GB" sz="1200" dirty="0"/>
                        <a:t>Piping operator. %&gt;%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CTRL+</a:t>
                      </a:r>
                      <a:br>
                        <a:rPr lang="en-GB" sz="1200" dirty="0"/>
                      </a:br>
                      <a:r>
                        <a:rPr lang="en-GB" sz="1200" dirty="0"/>
                        <a:t>SHIFT+M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n-GB" sz="1200" dirty="0"/>
                        <a:t>COMMAND+</a:t>
                      </a:r>
                      <a:br>
                        <a:rPr lang="en-GB" sz="1200" dirty="0"/>
                      </a:br>
                      <a:r>
                        <a:rPr lang="en-GB" sz="1200" dirty="0"/>
                        <a:t>SHIFT+M</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8"/>
                  </a:ext>
                </a:extLst>
              </a:tr>
            </a:tbl>
          </a:graphicData>
        </a:graphic>
      </p:graphicFrame>
      <p:pic>
        <p:nvPicPr>
          <p:cNvPr id="107" name="Picture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513392" y="6432337"/>
            <a:ext cx="838200"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767922" y="5990764"/>
            <a:ext cx="304800"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1" name="Picture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698596" y="7008401"/>
            <a:ext cx="514350" cy="209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2"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804985" y="8848522"/>
            <a:ext cx="362456" cy="2416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10"/>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249522" y="10129111"/>
            <a:ext cx="1655067" cy="701041"/>
          </a:xfrm>
          <a:prstGeom prst="rect">
            <a:avLst/>
          </a:prstGeom>
        </p:spPr>
      </p:pic>
      <p:sp>
        <p:nvSpPr>
          <p:cNvPr id="97" name="Line"/>
          <p:cNvSpPr/>
          <p:nvPr/>
        </p:nvSpPr>
        <p:spPr>
          <a:xfrm>
            <a:off x="216248" y="6308533"/>
            <a:ext cx="3431683" cy="0"/>
          </a:xfrm>
          <a:prstGeom prst="line">
            <a:avLst/>
          </a:prstGeom>
          <a:noFill/>
          <a:ln w="12700" cap="flat">
            <a:solidFill>
              <a:srgbClr val="E0E0E0"/>
            </a:solidFill>
            <a:custDash>
              <a:ds d="100000" sp="200000"/>
            </a:custDash>
            <a:round/>
          </a:ln>
          <a:effectLst/>
        </p:spPr>
        <p:txBody>
          <a:bodyPr wrap="square" lIns="54570" tIns="54570" rIns="54570" bIns="54570" numCol="1" anchor="ctr">
            <a:noAutofit/>
          </a:bodyPr>
          <a:lstStyle/>
          <a:p>
            <a:pPr>
              <a:lnSpc>
                <a:spcPct val="80000"/>
              </a:lnSpc>
              <a:spcBef>
                <a:spcPts val="600"/>
              </a:spcBef>
              <a:defRPr b="0">
                <a:solidFill>
                  <a:srgbClr val="000000"/>
                </a:solidFill>
              </a:defRPr>
            </a:pPr>
            <a:endParaRPr/>
          </a:p>
        </p:txBody>
      </p:sp>
      <p:sp>
        <p:nvSpPr>
          <p:cNvPr id="99" name="Line"/>
          <p:cNvSpPr/>
          <p:nvPr/>
        </p:nvSpPr>
        <p:spPr>
          <a:xfrm>
            <a:off x="216248" y="7785275"/>
            <a:ext cx="3431683" cy="0"/>
          </a:xfrm>
          <a:prstGeom prst="line">
            <a:avLst/>
          </a:prstGeom>
          <a:noFill/>
          <a:ln w="12700" cap="flat">
            <a:solidFill>
              <a:srgbClr val="E0E0E0"/>
            </a:solidFill>
            <a:custDash>
              <a:ds d="100000" sp="200000"/>
            </a:custDash>
            <a:round/>
          </a:ln>
          <a:effectLst/>
        </p:spPr>
        <p:txBody>
          <a:bodyPr wrap="square" lIns="54570" tIns="54570" rIns="54570" bIns="54570" numCol="1" anchor="ctr">
            <a:noAutofit/>
          </a:bodyPr>
          <a:lstStyle/>
          <a:p>
            <a:pPr>
              <a:lnSpc>
                <a:spcPct val="80000"/>
              </a:lnSpc>
              <a:spcBef>
                <a:spcPts val="600"/>
              </a:spcBef>
              <a:defRPr b="0">
                <a:solidFill>
                  <a:srgbClr val="000000"/>
                </a:solidFill>
              </a:defRPr>
            </a:pPr>
            <a:endParaRPr/>
          </a:p>
        </p:txBody>
      </p:sp>
      <p:sp>
        <p:nvSpPr>
          <p:cNvPr id="336" name="Use visualizations to explain concepts quickly and concisely."/>
          <p:cNvSpPr txBox="1"/>
          <p:nvPr/>
        </p:nvSpPr>
        <p:spPr>
          <a:xfrm>
            <a:off x="3364798" y="6549628"/>
            <a:ext cx="1188478" cy="13076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buClr>
                <a:srgbClr val="000000"/>
              </a:buClr>
              <a:buSzPct val="100000"/>
              <a:defRPr b="0">
                <a:solidFill>
                  <a:srgbClr val="000000"/>
                </a:solidFill>
              </a:defRPr>
            </a:pPr>
            <a:r>
              <a:rPr lang="en-GB" dirty="0"/>
              <a:t>Everything after a “#” is a comment and only used to help you and others understand what the code intends to do.</a:t>
            </a:r>
            <a:r>
              <a:rPr dirty="0"/>
              <a:t> </a:t>
            </a:r>
            <a:endParaRPr lang="en-GB" dirty="0"/>
          </a:p>
        </p:txBody>
      </p:sp>
      <p:sp>
        <p:nvSpPr>
          <p:cNvPr id="100" name="Use visualizations to explain concepts quickly and concisely."/>
          <p:cNvSpPr txBox="1"/>
          <p:nvPr/>
        </p:nvSpPr>
        <p:spPr>
          <a:xfrm>
            <a:off x="267223" y="7857283"/>
            <a:ext cx="4210203" cy="5040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0"/>
              </a:spcBef>
              <a:buClr>
                <a:srgbClr val="000000"/>
              </a:buClr>
              <a:buSzPct val="100000"/>
              <a:defRPr b="0">
                <a:solidFill>
                  <a:srgbClr val="000000"/>
                </a:solidFill>
              </a:defRPr>
            </a:pPr>
            <a:r>
              <a:rPr lang="en-GB" dirty="0"/>
              <a:t>By creating a comment line ending in “----” you create a “sort of chapter” in your code. Collapse a chapter by clicking on the little triangle on the left of that line.</a:t>
            </a:r>
          </a:p>
        </p:txBody>
      </p:sp>
      <p:pic>
        <p:nvPicPr>
          <p:cNvPr id="12" name="Picture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642" y="4515818"/>
            <a:ext cx="2354870" cy="122562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73233" y="6552654"/>
            <a:ext cx="3120638" cy="12285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2" name="COPYRIGHT"/>
          <p:cNvSpPr txBox="1"/>
          <p:nvPr/>
        </p:nvSpPr>
        <p:spPr>
          <a:xfrm>
            <a:off x="216248" y="9507666"/>
            <a:ext cx="1226298" cy="21031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r>
              <a:rPr lang="en-GB" dirty="0"/>
              <a:t>Closing </a:t>
            </a:r>
            <a:r>
              <a:rPr lang="en-GB" dirty="0" err="1"/>
              <a:t>RStudio</a:t>
            </a:r>
            <a:endParaRPr dirty="0"/>
          </a:p>
        </p:txBody>
      </p:sp>
      <p:sp>
        <p:nvSpPr>
          <p:cNvPr id="104" name="Each cheatsheet should be licensed under the creative commons license.…"/>
          <p:cNvSpPr txBox="1"/>
          <p:nvPr/>
        </p:nvSpPr>
        <p:spPr>
          <a:xfrm>
            <a:off x="213255" y="9712270"/>
            <a:ext cx="4154099" cy="43490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pPr>
              <a:lnSpc>
                <a:spcPct val="90000"/>
              </a:lnSpc>
              <a:spcBef>
                <a:spcPts val="600"/>
              </a:spcBef>
              <a:defRPr b="0">
                <a:solidFill>
                  <a:srgbClr val="000000"/>
                </a:solidFill>
              </a:defRPr>
            </a:pPr>
            <a:r>
              <a:rPr lang="en-GB" dirty="0"/>
              <a:t>As you close </a:t>
            </a:r>
            <a:r>
              <a:rPr lang="en-GB" dirty="0" err="1"/>
              <a:t>RStudio</a:t>
            </a:r>
            <a:r>
              <a:rPr lang="en-GB" dirty="0"/>
              <a:t> you will be asked whether you want to save the Workspace. On most occasions there is no need.</a:t>
            </a:r>
            <a:endParaRPr b="1" dirty="0"/>
          </a:p>
        </p:txBody>
      </p:sp>
      <p:pic>
        <p:nvPicPr>
          <p:cNvPr id="8" name="Picture 7"/>
          <p:cNvPicPr>
            <a:picLocks noChangeAspect="1"/>
          </p:cNvPicPr>
          <p:nvPr/>
        </p:nvPicPr>
        <p:blipFill>
          <a:blip r:embed="rId20"/>
          <a:stretch>
            <a:fillRect/>
          </a:stretch>
        </p:blipFill>
        <p:spPr>
          <a:xfrm>
            <a:off x="2162432" y="2872558"/>
            <a:ext cx="2397653" cy="1012774"/>
          </a:xfrm>
          <a:prstGeom prst="rect">
            <a:avLst/>
          </a:prstGeom>
        </p:spPr>
      </p:pic>
      <p:pic>
        <p:nvPicPr>
          <p:cNvPr id="1028" name="Picture 4" descr="C:\Users\Ralph Becker\AppData\Local\Microsoft\Windows\Temporary Internet Files\Content.IE5\0WWBF4N8\Kliponious-green-tick[1].png"/>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3770833" y="2627860"/>
            <a:ext cx="621879" cy="712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56501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5"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300" y="8853884"/>
            <a:ext cx="1438275" cy="100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aphicFrame>
        <p:nvGraphicFramePr>
          <p:cNvPr id="102" name="Table 101"/>
          <p:cNvGraphicFramePr>
            <a:graphicFrameLocks noGrp="1"/>
          </p:cNvGraphicFramePr>
          <p:nvPr>
            <p:extLst>
              <p:ext uri="{D42A27DB-BD31-4B8C-83A1-F6EECF244321}">
                <p14:modId xmlns:p14="http://schemas.microsoft.com/office/powerpoint/2010/main" val="697099060"/>
              </p:ext>
            </p:extLst>
          </p:nvPr>
        </p:nvGraphicFramePr>
        <p:xfrm>
          <a:off x="9361263" y="9077900"/>
          <a:ext cx="4362607" cy="1152128"/>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362607">
                  <a:extLst>
                    <a:ext uri="{9D8B030D-6E8A-4147-A177-3AD203B41FA5}">
                      <a16:colId xmlns:a16="http://schemas.microsoft.com/office/drawing/2014/main" val="20000"/>
                    </a:ext>
                  </a:extLst>
                </a:gridCol>
              </a:tblGrid>
              <a:tr h="576064">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lang="en-GB" sz="1200" b="0" dirty="0">
                          <a:solidFill>
                            <a:schemeClr val="accent1">
                              <a:lumMod val="75000"/>
                            </a:schemeClr>
                          </a:solidFill>
                          <a:latin typeface="Courier New" panose="02070309020205020404" pitchFamily="49" charset="0"/>
                          <a:cs typeface="Courier New" panose="02070309020205020404" pitchFamily="49" charset="0"/>
                        </a:rPr>
                        <a:t>lm</a:t>
                      </a:r>
                      <a:r>
                        <a:rPr lang="en-GB" sz="1200" b="0" dirty="0">
                          <a:solidFill>
                            <a:schemeClr val="accent1">
                              <a:lumMod val="75000"/>
                            </a:schemeClr>
                          </a:solidFill>
                        </a:rPr>
                        <a:t> </a:t>
                      </a:r>
                      <a:r>
                        <a:rPr lang="en-GB" sz="1200" b="0" dirty="0">
                          <a:solidFill>
                            <a:srgbClr val="000000"/>
                          </a:solidFill>
                        </a:rPr>
                        <a:t>is the function to run a regression, </a:t>
                      </a:r>
                      <a:r>
                        <a:rPr lang="en-GB" sz="1200" b="0" dirty="0">
                          <a:solidFill>
                            <a:schemeClr val="accent1">
                              <a:lumMod val="75000"/>
                            </a:schemeClr>
                          </a:solidFill>
                          <a:latin typeface="Courier New" panose="02070309020205020404" pitchFamily="49" charset="0"/>
                          <a:cs typeface="Courier New" panose="02070309020205020404" pitchFamily="49" charset="0"/>
                        </a:rPr>
                        <a:t>summary</a:t>
                      </a:r>
                      <a:r>
                        <a:rPr lang="en-GB" sz="1200" b="0" dirty="0">
                          <a:solidFill>
                            <a:schemeClr val="accent1">
                              <a:lumMod val="75000"/>
                            </a:schemeClr>
                          </a:solidFill>
                        </a:rPr>
                        <a:t> </a:t>
                      </a:r>
                      <a:r>
                        <a:rPr lang="en-GB" sz="1200" b="0" dirty="0">
                          <a:solidFill>
                            <a:srgbClr val="000000"/>
                          </a:solidFill>
                        </a:rPr>
                        <a:t>prints the results and </a:t>
                      </a:r>
                      <a:r>
                        <a:rPr lang="en-GB" sz="1200" b="0" dirty="0" err="1">
                          <a:solidFill>
                            <a:schemeClr val="accent1">
                              <a:lumMod val="75000"/>
                            </a:schemeClr>
                          </a:solidFill>
                          <a:latin typeface="Courier New" panose="02070309020205020404" pitchFamily="49" charset="0"/>
                          <a:cs typeface="Courier New" panose="02070309020205020404" pitchFamily="49" charset="0"/>
                        </a:rPr>
                        <a:t>lht</a:t>
                      </a:r>
                      <a:r>
                        <a:rPr lang="en-GB" sz="1200" b="0" dirty="0">
                          <a:solidFill>
                            <a:schemeClr val="accent1">
                              <a:lumMod val="75000"/>
                            </a:schemeClr>
                          </a:solidFill>
                        </a:rPr>
                        <a:t> </a:t>
                      </a:r>
                      <a:r>
                        <a:rPr lang="en-GB" sz="1200" b="0" dirty="0">
                          <a:solidFill>
                            <a:srgbClr val="000000"/>
                          </a:solidFill>
                        </a:rPr>
                        <a:t>can be used to test simple or multiple hypotheses</a:t>
                      </a:r>
                      <a:endParaRPr kumimoji="0" lang="en-GB" sz="1200" b="1" i="0" u="none" strike="noStrike" cap="none" spc="0" normalizeH="0" baseline="0" dirty="0">
                        <a:ln>
                          <a:noFill/>
                        </a:ln>
                        <a:solidFill>
                          <a:srgbClr val="4C4C4C"/>
                        </a:solidFill>
                        <a:effectLst/>
                        <a:uFillTx/>
                        <a:latin typeface="Source Sans Pro"/>
                        <a:ea typeface="Source Sans Pro"/>
                        <a:cs typeface="Source Sans Pro"/>
                        <a:sym typeface="Source Sans Pr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r h="576064">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92" name="Image" descr="Image"/>
          <p:cNvPicPr>
            <a:picLocks noChangeAspect="1"/>
          </p:cNvPicPr>
          <p:nvPr/>
        </p:nvPicPr>
        <p:blipFill>
          <a:blip r:embed="rId3"/>
          <a:stretch>
            <a:fillRect/>
          </a:stretch>
        </p:blipFill>
        <p:spPr>
          <a:xfrm>
            <a:off x="8369105" y="-684523"/>
            <a:ext cx="5603817" cy="2992964"/>
          </a:xfrm>
          <a:prstGeom prst="rect">
            <a:avLst/>
          </a:prstGeom>
          <a:ln w="12700">
            <a:miter lim="400000"/>
          </a:ln>
        </p:spPr>
      </p:pic>
      <p:grpSp>
        <p:nvGrpSpPr>
          <p:cNvPr id="311" name="Group"/>
          <p:cNvGrpSpPr/>
          <p:nvPr/>
        </p:nvGrpSpPr>
        <p:grpSpPr>
          <a:xfrm>
            <a:off x="8369105" y="-1013161"/>
            <a:ext cx="6159575" cy="3553962"/>
            <a:chOff x="0" y="51032"/>
            <a:chExt cx="6159573" cy="3553961"/>
          </a:xfrm>
        </p:grpSpPr>
        <p:grpSp>
          <p:nvGrpSpPr>
            <p:cNvPr id="308" name="Group"/>
            <p:cNvGrpSpPr/>
            <p:nvPr/>
          </p:nvGrpSpPr>
          <p:grpSpPr>
            <a:xfrm>
              <a:off x="24975" y="51032"/>
              <a:ext cx="6134599" cy="2980091"/>
              <a:chOff x="0" y="51032"/>
              <a:chExt cx="6134598" cy="2980090"/>
            </a:xfrm>
          </p:grpSpPr>
          <p:sp>
            <p:nvSpPr>
              <p:cNvPr id="293" name="Triangle"/>
              <p:cNvSpPr/>
              <p:nvPr/>
            </p:nvSpPr>
            <p:spPr>
              <a:xfrm rot="1800000">
                <a:off x="1177377" y="304285"/>
                <a:ext cx="1319509" cy="1143860"/>
              </a:xfrm>
              <a:prstGeom prst="triangle">
                <a:avLst/>
              </a:prstGeom>
              <a:solidFill>
                <a:srgbClr val="DEDFE0"/>
              </a:solidFill>
              <a:ln w="3175"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4" name="Circle"/>
              <p:cNvSpPr/>
              <p:nvPr/>
            </p:nvSpPr>
            <p:spPr>
              <a:xfrm flipH="1">
                <a:off x="1550782" y="838357"/>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5" name="Circle"/>
              <p:cNvSpPr/>
              <p:nvPr/>
            </p:nvSpPr>
            <p:spPr>
              <a:xfrm flipH="1">
                <a:off x="0" y="819778"/>
                <a:ext cx="422089"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6" name="Triangle"/>
              <p:cNvSpPr/>
              <p:nvPr/>
            </p:nvSpPr>
            <p:spPr>
              <a:xfrm rot="19800000">
                <a:off x="2896973" y="973389"/>
                <a:ext cx="1319509" cy="1143860"/>
              </a:xfrm>
              <a:prstGeom prst="triangle">
                <a:avLst/>
              </a:prstGeom>
              <a:solidFill>
                <a:srgbClr val="EFEFF0"/>
              </a:solidFill>
              <a:ln w="6350" cap="flat">
                <a:solidFill>
                  <a:srgbClr val="EFEFF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7" name="Triangle"/>
              <p:cNvSpPr/>
              <p:nvPr/>
            </p:nvSpPr>
            <p:spPr>
              <a:xfrm rot="1800000">
                <a:off x="3470359" y="1634009"/>
                <a:ext cx="1319509" cy="1143861"/>
              </a:xfrm>
              <a:prstGeom prst="triangle">
                <a:avLst/>
              </a:prstGeom>
              <a:solidFill>
                <a:srgbClr val="DEDFE0"/>
              </a:solidFill>
              <a:ln w="6350"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8" name="Circle"/>
              <p:cNvSpPr/>
              <p:nvPr/>
            </p:nvSpPr>
            <p:spPr>
              <a:xfrm flipH="1">
                <a:off x="3461021" y="1507461"/>
                <a:ext cx="422090"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299" name="Circle"/>
              <p:cNvSpPr/>
              <p:nvPr/>
            </p:nvSpPr>
            <p:spPr>
              <a:xfrm flipH="1">
                <a:off x="3843763" y="2168082"/>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0" name="Triangle"/>
              <p:cNvSpPr/>
              <p:nvPr/>
            </p:nvSpPr>
            <p:spPr>
              <a:xfrm rot="1800000">
                <a:off x="3470359" y="312963"/>
                <a:ext cx="1319509" cy="1143861"/>
              </a:xfrm>
              <a:prstGeom prst="triangle">
                <a:avLst/>
              </a:prstGeom>
              <a:solidFill>
                <a:srgbClr val="DEDFE0"/>
              </a:solidFill>
              <a:ln w="6350"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1" name="Circle"/>
              <p:cNvSpPr/>
              <p:nvPr/>
            </p:nvSpPr>
            <p:spPr>
              <a:xfrm flipH="1">
                <a:off x="3843763" y="847036"/>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2" name="Triangle"/>
              <p:cNvSpPr/>
              <p:nvPr/>
            </p:nvSpPr>
            <p:spPr>
              <a:xfrm rot="19800000">
                <a:off x="4044130" y="318647"/>
                <a:ext cx="1319509" cy="1143861"/>
              </a:xfrm>
              <a:prstGeom prst="triangle">
                <a:avLst/>
              </a:prstGeom>
              <a:solidFill>
                <a:srgbClr val="EFEFF0"/>
              </a:solidFill>
              <a:ln w="6350" cap="flat">
                <a:solidFill>
                  <a:srgbClr val="EFEFF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3" name="Circle"/>
              <p:cNvSpPr/>
              <p:nvPr/>
            </p:nvSpPr>
            <p:spPr>
              <a:xfrm flipH="1">
                <a:off x="4608178" y="852720"/>
                <a:ext cx="422090"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4" name="Triangle"/>
              <p:cNvSpPr/>
              <p:nvPr/>
            </p:nvSpPr>
            <p:spPr>
              <a:xfrm rot="1800000">
                <a:off x="4617515" y="979268"/>
                <a:ext cx="1319509" cy="1143861"/>
              </a:xfrm>
              <a:prstGeom prst="triangle">
                <a:avLst/>
              </a:prstGeom>
              <a:solidFill>
                <a:srgbClr val="DEDFE0"/>
              </a:solidFill>
              <a:ln w="6350" cap="flat">
                <a:solidFill>
                  <a:srgbClr val="DEDFE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5" name="Circle"/>
              <p:cNvSpPr/>
              <p:nvPr/>
            </p:nvSpPr>
            <p:spPr>
              <a:xfrm flipH="1">
                <a:off x="4990920" y="1513341"/>
                <a:ext cx="422090" cy="422090"/>
              </a:xfrm>
              <a:prstGeom prst="ellipse">
                <a:avLst/>
              </a:prstGeom>
              <a:solidFill>
                <a:srgbClr val="EFEFF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6" name="Triangle"/>
              <p:cNvSpPr/>
              <p:nvPr/>
            </p:nvSpPr>
            <p:spPr>
              <a:xfrm rot="19800000">
                <a:off x="1751148" y="309969"/>
                <a:ext cx="1319510" cy="1143860"/>
              </a:xfrm>
              <a:prstGeom prst="triangle">
                <a:avLst/>
              </a:prstGeom>
              <a:solidFill>
                <a:srgbClr val="EFEFF0"/>
              </a:solidFill>
              <a:ln w="6350" cap="flat">
                <a:solidFill>
                  <a:srgbClr val="EFEFF0"/>
                </a:solidFill>
                <a:prstDash val="solid"/>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sp>
            <p:nvSpPr>
              <p:cNvPr id="307" name="Circle"/>
              <p:cNvSpPr/>
              <p:nvPr/>
            </p:nvSpPr>
            <p:spPr>
              <a:xfrm flipH="1">
                <a:off x="2315196" y="844041"/>
                <a:ext cx="422090" cy="422090"/>
              </a:xfrm>
              <a:prstGeom prst="ellipse">
                <a:avLst/>
              </a:prstGeom>
              <a:solidFill>
                <a:srgbClr val="DEDFE0"/>
              </a:soli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grpSp>
        <p:sp>
          <p:nvSpPr>
            <p:cNvPr id="309" name="Rectangle"/>
            <p:cNvSpPr/>
            <p:nvPr/>
          </p:nvSpPr>
          <p:spPr>
            <a:xfrm>
              <a:off x="1682" y="1038072"/>
              <a:ext cx="5593304" cy="2566922"/>
            </a:xfrm>
            <a:prstGeom prst="rect">
              <a:avLst/>
            </a:prstGeom>
            <a:gradFill flip="none" rotWithShape="1">
              <a:gsLst>
                <a:gs pos="0">
                  <a:srgbClr val="FFFFFF">
                    <a:alpha val="0"/>
                  </a:srgbClr>
                </a:gs>
                <a:gs pos="20382">
                  <a:srgbClr val="FFFFFF">
                    <a:alpha val="45796"/>
                  </a:srgbClr>
                </a:gs>
                <a:gs pos="35803">
                  <a:srgbClr val="FFFFFF">
                    <a:alpha val="72898"/>
                  </a:srgbClr>
                </a:gs>
                <a:gs pos="55434">
                  <a:srgbClr val="FFFFFF"/>
                </a:gs>
              </a:gsLst>
              <a:path path="shape">
                <a:fillToRect l="49659" t="-26178" r="50340" b="126178"/>
              </a:path>
            </a:gradFill>
            <a:ln w="12700" cap="flat">
              <a:noFill/>
              <a:miter lim="400000"/>
            </a:ln>
            <a:effectLst/>
          </p:spPr>
          <p:txBody>
            <a:bodyPr wrap="square" lIns="54570" tIns="54570" rIns="54570" bIns="54570" numCol="1" anchor="ctr">
              <a:noAutofit/>
            </a:bodyPr>
            <a:lstStyle/>
            <a:p>
              <a:pPr>
                <a:lnSpc>
                  <a:spcPct val="80000"/>
                </a:lnSpc>
                <a:spcBef>
                  <a:spcPts val="0"/>
                </a:spcBef>
                <a:defRPr b="0">
                  <a:solidFill>
                    <a:srgbClr val="000000"/>
                  </a:solidFill>
                </a:defRPr>
              </a:pPr>
              <a:endParaRPr/>
            </a:p>
          </p:txBody>
        </p:sp>
        <p:pic>
          <p:nvPicPr>
            <p:cNvPr id="310" name="Image" descr="Image"/>
            <p:cNvPicPr>
              <a:picLocks noChangeAspect="1"/>
            </p:cNvPicPr>
            <p:nvPr/>
          </p:nvPicPr>
          <p:blipFill>
            <a:blip r:embed="rId3"/>
            <a:stretch>
              <a:fillRect/>
            </a:stretch>
          </p:blipFill>
          <p:spPr>
            <a:xfrm>
              <a:off x="0" y="379670"/>
              <a:ext cx="5603816" cy="2992964"/>
            </a:xfrm>
            <a:prstGeom prst="rect">
              <a:avLst/>
            </a:prstGeom>
            <a:ln w="12700" cap="flat">
              <a:noFill/>
              <a:miter lim="400000"/>
            </a:ln>
            <a:effectLst/>
          </p:spPr>
        </p:pic>
      </p:grpSp>
      <p:sp>
        <p:nvSpPr>
          <p:cNvPr id="312" name="Line"/>
          <p:cNvSpPr/>
          <p:nvPr/>
        </p:nvSpPr>
        <p:spPr>
          <a:xfrm>
            <a:off x="241300" y="10337513"/>
            <a:ext cx="13434202"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14" name="Group"/>
          <p:cNvSpPr/>
          <p:nvPr/>
        </p:nvSpPr>
        <p:spPr>
          <a:xfrm>
            <a:off x="213255" y="1184877"/>
            <a:ext cx="4346831" cy="7236960"/>
          </a:xfrm>
          <a:prstGeom prst="rect">
            <a:avLst/>
          </a:prstGeom>
          <a:solidFill>
            <a:srgbClr val="79B0DC">
              <a:alpha val="23776"/>
            </a:srgbClr>
          </a:solidFill>
          <a:ln w="12700">
            <a:miter lim="400000"/>
          </a:ln>
        </p:spPr>
        <p:txBody>
          <a:bodyPr lIns="54570" tIns="54570" rIns="54570" bIns="54570" anchor="ctr"/>
          <a:lstStyle/>
          <a:p>
            <a:pPr>
              <a:lnSpc>
                <a:spcPct val="80000"/>
              </a:lnSpc>
              <a:spcBef>
                <a:spcPts val="0"/>
              </a:spcBef>
              <a:defRPr sz="1000" b="0">
                <a:solidFill>
                  <a:srgbClr val="000000"/>
                </a:solidFill>
              </a:defRPr>
            </a:pPr>
            <a:endParaRPr/>
          </a:p>
        </p:txBody>
      </p:sp>
      <p:sp>
        <p:nvSpPr>
          <p:cNvPr id="330" name="Line"/>
          <p:cNvSpPr/>
          <p:nvPr/>
        </p:nvSpPr>
        <p:spPr>
          <a:xfrm>
            <a:off x="323328" y="1184875"/>
            <a:ext cx="4140391" cy="1"/>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40" name="Line"/>
          <p:cNvSpPr/>
          <p:nvPr/>
        </p:nvSpPr>
        <p:spPr>
          <a:xfrm>
            <a:off x="4814439" y="1149028"/>
            <a:ext cx="7110861"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384" name="Layout Suggestions"/>
          <p:cNvSpPr txBox="1"/>
          <p:nvPr/>
        </p:nvSpPr>
        <p:spPr>
          <a:xfrm>
            <a:off x="9289256" y="1210681"/>
            <a:ext cx="2699457" cy="3334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GB" dirty="0"/>
              <a:t>Error Management</a:t>
            </a:r>
            <a:endParaRPr dirty="0"/>
          </a:p>
        </p:txBody>
      </p:sp>
      <p:pic>
        <p:nvPicPr>
          <p:cNvPr id="448" name="rstudio.png" descr="rstudio.png"/>
          <p:cNvPicPr>
            <a:picLocks noChangeAspect="1"/>
          </p:cNvPicPr>
          <p:nvPr/>
        </p:nvPicPr>
        <p:blipFill>
          <a:blip r:embed="rId4"/>
          <a:stretch>
            <a:fillRect/>
          </a:stretch>
        </p:blipFill>
        <p:spPr>
          <a:xfrm>
            <a:off x="12294644" y="195549"/>
            <a:ext cx="1386697" cy="1607136"/>
          </a:xfrm>
          <a:prstGeom prst="rect">
            <a:avLst/>
          </a:prstGeom>
          <a:ln w="12700">
            <a:miter lim="400000"/>
          </a:ln>
        </p:spPr>
      </p:pic>
      <p:sp>
        <p:nvSpPr>
          <p:cNvPr id="54" name="Basics"/>
          <p:cNvSpPr txBox="1"/>
          <p:nvPr/>
        </p:nvSpPr>
        <p:spPr>
          <a:xfrm>
            <a:off x="288256" y="1184876"/>
            <a:ext cx="1431482" cy="3334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GB" dirty="0"/>
              <a:t>Packages</a:t>
            </a:r>
            <a:endParaRPr dirty="0"/>
          </a:p>
        </p:txBody>
      </p:sp>
      <p:sp>
        <p:nvSpPr>
          <p:cNvPr id="55" name="TextBox 54"/>
          <p:cNvSpPr txBox="1"/>
          <p:nvPr/>
        </p:nvSpPr>
        <p:spPr>
          <a:xfrm>
            <a:off x="216864" y="1472908"/>
            <a:ext cx="4175848" cy="3308598"/>
          </a:xfrm>
          <a:prstGeom prst="rect">
            <a:avLst/>
          </a:prstGeom>
          <a:noFill/>
        </p:spPr>
        <p:txBody>
          <a:bodyPr wrap="square" rtlCol="0">
            <a:spAutoFit/>
          </a:bodyPr>
          <a:lstStyle/>
          <a:p>
            <a:r>
              <a:rPr lang="en-GB" b="0" dirty="0">
                <a:solidFill>
                  <a:srgbClr val="000000"/>
                </a:solidFill>
              </a:rPr>
              <a:t>R is an open source software which has a lot of functionality build-in. However, a lot of very useful additional functions are provided by extra packages. TO be able to use these you need to:</a:t>
            </a:r>
          </a:p>
          <a:p>
            <a:pPr marL="228600" indent="-228600">
              <a:buFont typeface="+mj-lt"/>
              <a:buAutoNum type="arabicPeriod"/>
            </a:pPr>
            <a:r>
              <a:rPr lang="en-GB" b="0" dirty="0">
                <a:solidFill>
                  <a:srgbClr val="000000"/>
                </a:solidFill>
              </a:rPr>
              <a:t>Find the package you need (Google or check out </a:t>
            </a:r>
            <a:r>
              <a:rPr lang="en-GB" b="0" dirty="0">
                <a:solidFill>
                  <a:srgbClr val="000000"/>
                </a:solidFill>
                <a:hlinkClick r:id="rId5"/>
              </a:rPr>
              <a:t>CRAN Task view</a:t>
            </a:r>
            <a:r>
              <a:rPr lang="en-GB" b="0" dirty="0">
                <a:solidFill>
                  <a:srgbClr val="000000"/>
                </a:solidFill>
              </a:rPr>
              <a:t> for starters).</a:t>
            </a:r>
          </a:p>
          <a:p>
            <a:pPr marL="228600" indent="-228600">
              <a:buFont typeface="+mj-lt"/>
              <a:buAutoNum type="arabicPeriod"/>
            </a:pPr>
            <a:r>
              <a:rPr lang="en-GB" b="0" dirty="0">
                <a:solidFill>
                  <a:srgbClr val="000000"/>
                </a:solidFill>
              </a:rPr>
              <a:t>The package needs to be installed on the machine you are using. Run</a:t>
            </a:r>
            <a:br>
              <a:rPr lang="en-GB" b="0" dirty="0">
                <a:solidFill>
                  <a:srgbClr val="000000"/>
                </a:solidFill>
              </a:rPr>
            </a:br>
            <a:r>
              <a:rPr lang="en-GB" b="0" dirty="0">
                <a:solidFill>
                  <a:srgbClr val="000000"/>
                </a:solidFill>
              </a:rPr>
              <a:t>(quotation marks need to be included) or use the interactive function in the packages tab:</a:t>
            </a:r>
            <a:br>
              <a:rPr lang="en-GB" b="0" dirty="0">
                <a:solidFill>
                  <a:srgbClr val="000000"/>
                </a:solidFill>
              </a:rPr>
            </a:br>
            <a:br>
              <a:rPr lang="en-GB" b="0" dirty="0">
                <a:solidFill>
                  <a:srgbClr val="000000"/>
                </a:solidFill>
              </a:rPr>
            </a:br>
            <a:br>
              <a:rPr lang="en-GB" b="0" dirty="0">
                <a:solidFill>
                  <a:srgbClr val="000000"/>
                </a:solidFill>
              </a:rPr>
            </a:br>
            <a:endParaRPr lang="en-GB" b="0" dirty="0">
              <a:solidFill>
                <a:srgbClr val="000000"/>
              </a:solidFill>
            </a:endParaRPr>
          </a:p>
          <a:p>
            <a:pPr marL="228600" indent="-228600">
              <a:buFont typeface="+mj-lt"/>
              <a:buAutoNum type="arabicPeriod"/>
            </a:pPr>
            <a:r>
              <a:rPr lang="en-GB" b="0" dirty="0">
                <a:solidFill>
                  <a:srgbClr val="000000"/>
                </a:solidFill>
              </a:rPr>
              <a:t>In the script in which you use a function which is provided by a package you need to load that package by running the following line in your script:</a:t>
            </a:r>
            <a:br>
              <a:rPr lang="en-GB" b="0" dirty="0">
                <a:solidFill>
                  <a:srgbClr val="000000"/>
                </a:solidFill>
              </a:rPr>
            </a:br>
            <a:r>
              <a:rPr lang="en-GB" b="0" dirty="0">
                <a:solidFill>
                  <a:srgbClr val="000000"/>
                </a:solidFill>
              </a:rPr>
              <a:t>                                     </a:t>
            </a:r>
          </a:p>
        </p:txBody>
      </p:sp>
      <p:pic>
        <p:nvPicPr>
          <p:cNvPr id="205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8553" y="2857059"/>
            <a:ext cx="2390775"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666" y="3463980"/>
            <a:ext cx="14478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8910" y="4513243"/>
            <a:ext cx="1600200" cy="200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59" name="Group"/>
          <p:cNvGrpSpPr/>
          <p:nvPr/>
        </p:nvGrpSpPr>
        <p:grpSpPr>
          <a:xfrm>
            <a:off x="350380" y="5001300"/>
            <a:ext cx="2818197" cy="226109"/>
            <a:chOff x="0" y="0"/>
            <a:chExt cx="2818195" cy="226107"/>
          </a:xfrm>
        </p:grpSpPr>
        <p:sp>
          <p:nvSpPr>
            <p:cNvPr id="60" name="SUBTITLE"/>
            <p:cNvSpPr txBox="1"/>
            <p:nvPr/>
          </p:nvSpPr>
          <p:spPr>
            <a:xfrm>
              <a:off x="0" y="15795"/>
              <a:ext cx="1683152" cy="210312"/>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numCol="1" anchor="ctr">
              <a:spAutoFit/>
            </a:bodyPr>
            <a:lstStyle/>
            <a:p>
              <a:pPr lvl="1" indent="0"/>
              <a:r>
                <a:rPr lang="en-GB" dirty="0"/>
                <a:t>Some useful packages</a:t>
              </a:r>
              <a:endParaRPr dirty="0"/>
            </a:p>
          </p:txBody>
        </p:sp>
        <p:sp>
          <p:nvSpPr>
            <p:cNvPr id="61" name="Line"/>
            <p:cNvSpPr/>
            <p:nvPr/>
          </p:nvSpPr>
          <p:spPr>
            <a:xfrm>
              <a:off x="23250" y="0"/>
              <a:ext cx="2794945" cy="0"/>
            </a:xfrm>
            <a:prstGeom prst="line">
              <a:avLst/>
            </a:prstGeom>
            <a:noFill/>
            <a:ln w="12700" cap="flat">
              <a:solidFill>
                <a:srgbClr val="E0E0E0"/>
              </a:solidFill>
              <a:custDash>
                <a:ds d="100000" sp="200000"/>
              </a:custDash>
              <a:round/>
            </a:ln>
            <a:effectLst/>
          </p:spPr>
          <p:txBody>
            <a:bodyPr wrap="square" lIns="54570" tIns="54570" rIns="54570" bIns="54570" numCol="1" anchor="ctr">
              <a:noAutofit/>
            </a:bodyPr>
            <a:lstStyle/>
            <a:p>
              <a:pPr>
                <a:lnSpc>
                  <a:spcPct val="80000"/>
                </a:lnSpc>
                <a:spcBef>
                  <a:spcPts val="600"/>
                </a:spcBef>
                <a:defRPr b="0">
                  <a:solidFill>
                    <a:srgbClr val="000000"/>
                  </a:solidFill>
                </a:defRPr>
              </a:pPr>
              <a:endParaRPr/>
            </a:p>
          </p:txBody>
        </p:sp>
      </p:grpSp>
      <p:sp>
        <p:nvSpPr>
          <p:cNvPr id="62" name="TextBox 61"/>
          <p:cNvSpPr txBox="1"/>
          <p:nvPr/>
        </p:nvSpPr>
        <p:spPr>
          <a:xfrm>
            <a:off x="216248" y="5202610"/>
            <a:ext cx="4175848" cy="461665"/>
          </a:xfrm>
          <a:prstGeom prst="rect">
            <a:avLst/>
          </a:prstGeom>
          <a:noFill/>
        </p:spPr>
        <p:txBody>
          <a:bodyPr wrap="square" rtlCol="0">
            <a:spAutoFit/>
          </a:bodyPr>
          <a:lstStyle/>
          <a:p>
            <a:br>
              <a:rPr lang="en-GB" b="0" dirty="0">
                <a:solidFill>
                  <a:srgbClr val="000000"/>
                </a:solidFill>
              </a:rPr>
            </a:br>
            <a:endParaRPr lang="en-GB" b="0" dirty="0">
              <a:solidFill>
                <a:srgbClr val="00000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727772327"/>
              </p:ext>
            </p:extLst>
          </p:nvPr>
        </p:nvGraphicFramePr>
        <p:xfrm>
          <a:off x="244004" y="5351310"/>
          <a:ext cx="4148092" cy="3070413"/>
        </p:xfrm>
        <a:graphic>
          <a:graphicData uri="http://schemas.openxmlformats.org/drawingml/2006/table">
            <a:tbl>
              <a:tblPr firstRow="1" bandRow="1">
                <a:tableStyleId>{5940675A-B579-460E-94D1-54222C63F5DA}</a:tableStyleId>
              </a:tblPr>
              <a:tblGrid>
                <a:gridCol w="1052364">
                  <a:extLst>
                    <a:ext uri="{9D8B030D-6E8A-4147-A177-3AD203B41FA5}">
                      <a16:colId xmlns:a16="http://schemas.microsoft.com/office/drawing/2014/main" val="20000"/>
                    </a:ext>
                  </a:extLst>
                </a:gridCol>
                <a:gridCol w="3095728">
                  <a:extLst>
                    <a:ext uri="{9D8B030D-6E8A-4147-A177-3AD203B41FA5}">
                      <a16:colId xmlns:a16="http://schemas.microsoft.com/office/drawing/2014/main" val="20001"/>
                    </a:ext>
                  </a:extLst>
                </a:gridCol>
              </a:tblGrid>
              <a:tr h="352911">
                <a:tc>
                  <a:txBody>
                    <a:bodyPr/>
                    <a:lstStyle/>
                    <a:p>
                      <a:r>
                        <a:rPr lang="en-GB" sz="1200" b="1" dirty="0"/>
                        <a:t>Package</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a:r>
                        <a:rPr lang="en-GB" sz="1200" b="1" dirty="0"/>
                        <a:t>What it does</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52911">
                <a:tc>
                  <a:txBody>
                    <a:bodyPr/>
                    <a:lstStyle/>
                    <a:p>
                      <a:r>
                        <a:rPr lang="en-GB" sz="1200" dirty="0" err="1"/>
                        <a:t>tidyverse</a:t>
                      </a:r>
                      <a:endParaRPr lang="en-GB" sz="1200"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algn="l"/>
                      <a:r>
                        <a:rPr lang="en-GB" sz="1200" dirty="0"/>
                        <a:t>This is the </a:t>
                      </a:r>
                      <a:r>
                        <a:rPr lang="en-GB" sz="1200" dirty="0" err="1"/>
                        <a:t>swiss</a:t>
                      </a:r>
                      <a:r>
                        <a:rPr lang="en-GB" sz="1200" dirty="0"/>
                        <a:t> army-knife for the R-analyst; helps with most data tasks</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52911">
                <a:tc>
                  <a:txBody>
                    <a:bodyPr/>
                    <a:lstStyle/>
                    <a:p>
                      <a:r>
                        <a:rPr lang="en-GB" sz="1200" dirty="0" err="1"/>
                        <a:t>readxl</a:t>
                      </a:r>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sz="1200" dirty="0"/>
                        <a:t>This will support the import of Excel spreadsheets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52911">
                <a:tc>
                  <a:txBody>
                    <a:bodyPr/>
                    <a:lstStyle/>
                    <a:p>
                      <a:r>
                        <a:rPr lang="en-GB" sz="1200" dirty="0"/>
                        <a:t>ggplot2</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sz="1200" dirty="0"/>
                        <a:t>Creates amazing plots</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52911">
                <a:tc>
                  <a:txBody>
                    <a:bodyPr/>
                    <a:lstStyle/>
                    <a:p>
                      <a:r>
                        <a:rPr lang="en-GB" sz="1200" dirty="0" err="1"/>
                        <a:t>rmarkdown</a:t>
                      </a:r>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sz="1200" dirty="0"/>
                        <a:t>Allows you to create</a:t>
                      </a:r>
                      <a:r>
                        <a:rPr lang="en-GB" sz="1200" baseline="0" dirty="0"/>
                        <a:t> </a:t>
                      </a:r>
                      <a:r>
                        <a:rPr lang="en-GB" sz="1200" baseline="0" dirty="0" err="1"/>
                        <a:t>Rmarkdown</a:t>
                      </a:r>
                      <a:r>
                        <a:rPr lang="en-GB" sz="1200" baseline="0" dirty="0"/>
                        <a:t> documents which produce excellent documents that mix code, output and text.</a:t>
                      </a:r>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52911">
                <a:tc>
                  <a:txBody>
                    <a:bodyPr/>
                    <a:lstStyle/>
                    <a:p>
                      <a:r>
                        <a:rPr lang="en-GB" sz="1200" dirty="0"/>
                        <a:t>forecast</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sz="1200" dirty="0"/>
                        <a:t>Provides a</a:t>
                      </a:r>
                      <a:r>
                        <a:rPr lang="en-GB" sz="1200" baseline="0" dirty="0"/>
                        <a:t> lot of time-series functionality</a:t>
                      </a:r>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52911">
                <a:tc>
                  <a:txBody>
                    <a:bodyPr/>
                    <a:lstStyle/>
                    <a:p>
                      <a:r>
                        <a:rPr lang="en-GB" sz="1200" dirty="0"/>
                        <a:t>car</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GB" sz="1200" dirty="0"/>
                        <a:t>A package with plenty of functions for regression</a:t>
                      </a:r>
                      <a:r>
                        <a:rPr lang="en-GB" sz="1200" baseline="0" dirty="0"/>
                        <a:t> analysis</a:t>
                      </a:r>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6"/>
                  </a:ext>
                </a:extLst>
              </a:tr>
            </a:tbl>
          </a:graphicData>
        </a:graphic>
      </p:graphicFrame>
      <p:sp>
        <p:nvSpPr>
          <p:cNvPr id="57" name="Logistics"/>
          <p:cNvSpPr txBox="1"/>
          <p:nvPr/>
        </p:nvSpPr>
        <p:spPr>
          <a:xfrm>
            <a:off x="4824760" y="1211491"/>
            <a:ext cx="3481722" cy="33342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12700" tIns="12700" rIns="12700" bIns="12700" anchor="ctr">
            <a:spAutoFit/>
          </a:bodyPr>
          <a:lstStyle/>
          <a:p>
            <a:pPr lvl="1" indent="0">
              <a:lnSpc>
                <a:spcPct val="80000"/>
              </a:lnSpc>
              <a:spcBef>
                <a:spcPts val="0"/>
              </a:spcBef>
              <a:defRPr sz="2500" b="0">
                <a:solidFill>
                  <a:srgbClr val="628DB5"/>
                </a:solidFill>
              </a:defRPr>
            </a:pPr>
            <a:r>
              <a:rPr lang="en-GB" dirty="0"/>
              <a:t>Basic data management</a:t>
            </a:r>
            <a:endParaRPr dirty="0"/>
          </a:p>
        </p:txBody>
      </p:sp>
      <p:pic>
        <p:nvPicPr>
          <p:cNvPr id="48" name="Picture 4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249522" y="10129111"/>
            <a:ext cx="1655067" cy="701041"/>
          </a:xfrm>
          <a:prstGeom prst="rect">
            <a:avLst/>
          </a:prstGeom>
        </p:spPr>
      </p:pic>
      <p:sp>
        <p:nvSpPr>
          <p:cNvPr id="50" name="RStudio® is a trademark of RStudio, Inc.  •  CC BY SA Your Name •  your@email.com  •  844-448-1212 • your.website.com •  Learn more at webpage or vignette   •  package version  0.5.0 •  Updated: 2017-01"/>
          <p:cNvSpPr txBox="1"/>
          <p:nvPr/>
        </p:nvSpPr>
        <p:spPr>
          <a:xfrm>
            <a:off x="2353572" y="10347903"/>
            <a:ext cx="11322666" cy="23485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4570" tIns="54570" rIns="54570" bIns="54570" anchor="ctr">
            <a:spAutoFit/>
          </a:bodyPr>
          <a:lstStyle/>
          <a:p>
            <a:pPr algn="r">
              <a:lnSpc>
                <a:spcPct val="90000"/>
              </a:lnSpc>
              <a:spcBef>
                <a:spcPts val="0"/>
              </a:spcBef>
              <a:defRPr sz="900" b="0">
                <a:solidFill>
                  <a:srgbClr val="000000"/>
                </a:solidFill>
              </a:defRPr>
            </a:pPr>
            <a:r>
              <a:rPr dirty="0" err="1"/>
              <a:t>RStudio</a:t>
            </a:r>
            <a:r>
              <a:rPr dirty="0"/>
              <a:t>® is a trademark of </a:t>
            </a:r>
            <a:r>
              <a:rPr dirty="0" err="1"/>
              <a:t>RStudio</a:t>
            </a:r>
            <a:r>
              <a:rPr dirty="0"/>
              <a:t>, Inc.  •  </a:t>
            </a:r>
            <a:r>
              <a:rPr dirty="0">
                <a:hlinkClick r:id="rId10"/>
              </a:rPr>
              <a:t>CC BY SA</a:t>
            </a:r>
            <a:r>
              <a:rPr dirty="0"/>
              <a:t> </a:t>
            </a:r>
            <a:r>
              <a:rPr lang="en-GB" dirty="0"/>
              <a:t>Ralf Becker</a:t>
            </a:r>
            <a:r>
              <a:rPr dirty="0"/>
              <a:t> •  </a:t>
            </a:r>
            <a:r>
              <a:rPr lang="en-GB" dirty="0" err="1">
                <a:hlinkClick r:id="rId11"/>
              </a:rPr>
              <a:t>ralffbecker</a:t>
            </a:r>
            <a:r>
              <a:rPr dirty="0">
                <a:hlinkClick r:id="rId11"/>
              </a:rPr>
              <a:t>@</a:t>
            </a:r>
            <a:r>
              <a:rPr lang="en-GB" dirty="0">
                <a:hlinkClick r:id="rId11"/>
              </a:rPr>
              <a:t>g</a:t>
            </a:r>
            <a:r>
              <a:rPr dirty="0">
                <a:hlinkClick r:id="rId11"/>
              </a:rPr>
              <a:t>mail.com</a:t>
            </a:r>
            <a:r>
              <a:rPr dirty="0"/>
              <a:t> • </a:t>
            </a:r>
            <a:r>
              <a:rPr lang="en-GB" dirty="0">
                <a:hlinkClick r:id="rId12"/>
              </a:rPr>
              <a:t>https://datasquad.github.io/ECLR/index.html </a:t>
            </a:r>
            <a:r>
              <a:rPr dirty="0"/>
              <a:t>•  Updated: 20</a:t>
            </a:r>
            <a:r>
              <a:rPr lang="en-GB" dirty="0"/>
              <a:t>25</a:t>
            </a:r>
            <a:r>
              <a:rPr dirty="0"/>
              <a:t>-</a:t>
            </a:r>
            <a:r>
              <a:rPr lang="en-GB" dirty="0"/>
              <a:t>10</a:t>
            </a:r>
            <a:endParaRPr dirty="0"/>
          </a:p>
        </p:txBody>
      </p:sp>
      <p:sp>
        <p:nvSpPr>
          <p:cNvPr id="52" name="TextBox 51"/>
          <p:cNvSpPr txBox="1"/>
          <p:nvPr/>
        </p:nvSpPr>
        <p:spPr>
          <a:xfrm>
            <a:off x="9247129" y="1466572"/>
            <a:ext cx="4434615" cy="7494359"/>
          </a:xfrm>
          <a:prstGeom prst="rect">
            <a:avLst/>
          </a:prstGeom>
          <a:noFill/>
        </p:spPr>
        <p:txBody>
          <a:bodyPr wrap="square" rtlCol="0">
            <a:spAutoFit/>
          </a:bodyPr>
          <a:lstStyle/>
          <a:p>
            <a:r>
              <a:rPr lang="en-GB" b="0" dirty="0">
                <a:solidFill>
                  <a:srgbClr val="000000"/>
                </a:solidFill>
              </a:rPr>
              <a:t>When writing code you will encounter problems and error messages. This happened to everyone and is a normal part of code writing.</a:t>
            </a:r>
          </a:p>
          <a:p>
            <a:r>
              <a:rPr lang="en-GB" dirty="0">
                <a:solidFill>
                  <a:schemeClr val="accent1">
                    <a:lumMod val="75000"/>
                  </a:schemeClr>
                </a:solidFill>
              </a:rPr>
              <a:t>When you encounter an issue do this first:</a:t>
            </a:r>
          </a:p>
          <a:p>
            <a:pPr marL="228600" indent="-228600">
              <a:buFont typeface="+mj-lt"/>
              <a:buAutoNum type="arabicPeriod"/>
            </a:pPr>
            <a:r>
              <a:rPr lang="en-GB" b="0" dirty="0">
                <a:solidFill>
                  <a:schemeClr val="accent1">
                    <a:lumMod val="75000"/>
                  </a:schemeClr>
                </a:solidFill>
              </a:rPr>
              <a:t>Re-read what you typed</a:t>
            </a:r>
            <a:r>
              <a:rPr lang="en-GB" b="0" dirty="0">
                <a:solidFill>
                  <a:srgbClr val="000000"/>
                </a:solidFill>
              </a:rPr>
              <a:t>, is it 'exactly' what you wanted?</a:t>
            </a:r>
            <a:br>
              <a:rPr lang="en-GB" b="0" dirty="0">
                <a:solidFill>
                  <a:srgbClr val="000000"/>
                </a:solidFill>
              </a:rPr>
            </a:br>
            <a:r>
              <a:rPr lang="en-GB" b="0" dirty="0">
                <a:solidFill>
                  <a:srgbClr val="000000"/>
                </a:solidFill>
              </a:rPr>
              <a:t>(R is case sensitive! Don’t use spaces in variable names!)</a:t>
            </a:r>
          </a:p>
          <a:p>
            <a:pPr marL="228600" indent="-228600">
              <a:buFont typeface="+mj-lt"/>
              <a:buAutoNum type="arabicPeriod"/>
            </a:pPr>
            <a:r>
              <a:rPr lang="en-GB" b="0" dirty="0">
                <a:solidFill>
                  <a:schemeClr val="accent1">
                    <a:lumMod val="75000"/>
                  </a:schemeClr>
                </a:solidFill>
              </a:rPr>
              <a:t>Re-run code one line at a time </a:t>
            </a:r>
            <a:r>
              <a:rPr lang="en-GB" b="0" dirty="0">
                <a:solidFill>
                  <a:srgbClr val="000000"/>
                </a:solidFill>
              </a:rPr>
              <a:t>and identify line with error.</a:t>
            </a:r>
          </a:p>
          <a:p>
            <a:pPr marL="228600" indent="-228600">
              <a:buFont typeface="+mj-lt"/>
              <a:buAutoNum type="arabicPeriod"/>
            </a:pPr>
            <a:r>
              <a:rPr lang="en-GB" b="0" dirty="0">
                <a:solidFill>
                  <a:schemeClr val="accent1">
                    <a:lumMod val="75000"/>
                  </a:schemeClr>
                </a:solidFill>
              </a:rPr>
              <a:t>Read error message </a:t>
            </a:r>
            <a:r>
              <a:rPr lang="en-GB" b="0" dirty="0">
                <a:solidFill>
                  <a:srgbClr val="000000"/>
                </a:solidFill>
              </a:rPr>
              <a:t>and try to find anything that you can understand. Don't worry about the parts you don't understand – there will be lots!</a:t>
            </a:r>
          </a:p>
          <a:p>
            <a:endParaRPr lang="en-GB" sz="600" b="0" dirty="0">
              <a:solidFill>
                <a:srgbClr val="000000"/>
              </a:solidFill>
            </a:endParaRPr>
          </a:p>
          <a:p>
            <a:r>
              <a:rPr lang="en-GB" dirty="0">
                <a:solidFill>
                  <a:schemeClr val="accent1">
                    <a:lumMod val="75000"/>
                  </a:schemeClr>
                </a:solidFill>
              </a:rPr>
              <a:t>Common error messages</a:t>
            </a:r>
          </a:p>
          <a:p>
            <a:pPr marL="171450" indent="-171450">
              <a:buFont typeface="Arial" panose="020B0604020202020204" pitchFamily="34" charset="0"/>
              <a:buChar char="•"/>
            </a:pPr>
            <a:r>
              <a:rPr lang="en-GB" b="0" dirty="0">
                <a:solidFill>
                  <a:schemeClr val="accent1">
                    <a:lumMod val="75000"/>
                  </a:schemeClr>
                </a:solidFill>
              </a:rPr>
              <a:t>'No such file or directory‘ </a:t>
            </a:r>
            <a:r>
              <a:rPr lang="en-GB" b="0" dirty="0">
                <a:solidFill>
                  <a:srgbClr val="000000"/>
                </a:solidFill>
              </a:rPr>
              <a:t>- R cannot find the file, Check the file really exists in the specified folder. This could be because it is looking in the wrong place or you have </a:t>
            </a:r>
            <a:r>
              <a:rPr lang="en-GB" b="0" dirty="0" err="1">
                <a:solidFill>
                  <a:srgbClr val="000000"/>
                </a:solidFill>
              </a:rPr>
              <a:t>mis</a:t>
            </a:r>
            <a:r>
              <a:rPr lang="en-GB" b="0" dirty="0">
                <a:solidFill>
                  <a:srgbClr val="000000"/>
                </a:solidFill>
              </a:rPr>
              <a:t>-typed. Check </a:t>
            </a:r>
            <a:r>
              <a:rPr lang="en-GB" b="0" dirty="0" err="1">
                <a:solidFill>
                  <a:srgbClr val="000000"/>
                </a:solidFill>
                <a:latin typeface="Courier New" panose="02070309020205020404" pitchFamily="49" charset="0"/>
                <a:cs typeface="Courier New" panose="02070309020205020404" pitchFamily="49" charset="0"/>
              </a:rPr>
              <a:t>getwd</a:t>
            </a:r>
            <a:r>
              <a:rPr lang="en-GB" b="0" dirty="0">
                <a:solidFill>
                  <a:srgbClr val="000000"/>
                </a:solidFill>
                <a:latin typeface="Courier New" panose="02070309020205020404" pitchFamily="49" charset="0"/>
                <a:cs typeface="Courier New" panose="02070309020205020404" pitchFamily="49" charset="0"/>
              </a:rPr>
              <a:t>() </a:t>
            </a:r>
            <a:r>
              <a:rPr lang="en-GB" b="0" dirty="0">
                <a:solidFill>
                  <a:srgbClr val="000000"/>
                </a:solidFill>
              </a:rPr>
              <a:t>to see what R’s working directory is. Use </a:t>
            </a:r>
            <a:r>
              <a:rPr lang="en-GB" b="0" dirty="0" err="1">
                <a:solidFill>
                  <a:srgbClr val="000000"/>
                </a:solidFill>
                <a:latin typeface="Courier New" panose="02070309020205020404" pitchFamily="49" charset="0"/>
                <a:cs typeface="Courier New" panose="02070309020205020404" pitchFamily="49" charset="0"/>
              </a:rPr>
              <a:t>setwd</a:t>
            </a:r>
            <a:r>
              <a:rPr lang="en-GB" b="0" dirty="0">
                <a:solidFill>
                  <a:srgbClr val="000000"/>
                </a:solidFill>
                <a:latin typeface="Courier New" panose="02070309020205020404" pitchFamily="49" charset="0"/>
                <a:cs typeface="Courier New" panose="02070309020205020404" pitchFamily="49" charset="0"/>
              </a:rPr>
              <a:t>(</a:t>
            </a:r>
            <a:r>
              <a:rPr lang="en-GB" b="0" dirty="0">
                <a:solidFill>
                  <a:schemeClr val="tx1"/>
                </a:solidFill>
                <a:latin typeface="Courier New" panose="02070309020205020404" pitchFamily="49" charset="0"/>
                <a:cs typeface="Courier New" panose="02070309020205020404" pitchFamily="49" charset="0"/>
              </a:rPr>
              <a:t>"</a:t>
            </a:r>
            <a:r>
              <a:rPr lang="en-GB" b="0" dirty="0" err="1">
                <a:solidFill>
                  <a:srgbClr val="000000"/>
                </a:solidFill>
                <a:latin typeface="Courier New" panose="02070309020205020404" pitchFamily="49" charset="0"/>
                <a:cs typeface="Courier New" panose="02070309020205020404" pitchFamily="49" charset="0"/>
              </a:rPr>
              <a:t>yourdir</a:t>
            </a:r>
            <a:r>
              <a:rPr lang="en-GB" b="0" dirty="0">
                <a:solidFill>
                  <a:schemeClr val="tx1"/>
                </a:solidFill>
                <a:latin typeface="Courier New" panose="02070309020205020404" pitchFamily="49" charset="0"/>
                <a:cs typeface="Courier New" panose="02070309020205020404" pitchFamily="49" charset="0"/>
              </a:rPr>
              <a:t>"</a:t>
            </a:r>
            <a:r>
              <a:rPr lang="en-GB" b="0" dirty="0">
                <a:solidFill>
                  <a:srgbClr val="000000"/>
                </a:solidFill>
                <a:latin typeface="Courier New" panose="02070309020205020404" pitchFamily="49" charset="0"/>
                <a:cs typeface="Courier New" panose="02070309020205020404" pitchFamily="49" charset="0"/>
              </a:rPr>
              <a:t>)</a:t>
            </a:r>
            <a:r>
              <a:rPr lang="en-GB" b="0" dirty="0">
                <a:solidFill>
                  <a:srgbClr val="000000"/>
                </a:solidFill>
                <a:latin typeface="+mn-lt"/>
                <a:cs typeface="Courier New" panose="02070309020205020404" pitchFamily="49" charset="0"/>
              </a:rPr>
              <a:t> to change working directory.</a:t>
            </a:r>
            <a:endParaRPr lang="en-GB" b="0" dirty="0">
              <a:solidFill>
                <a:srgbClr val="000000"/>
              </a:solidFill>
              <a:latin typeface="+mn-lt"/>
            </a:endParaRPr>
          </a:p>
          <a:p>
            <a:pPr marL="171450" indent="-171450">
              <a:buFont typeface="Arial" panose="020B0604020202020204" pitchFamily="34" charset="0"/>
              <a:buChar char="•"/>
            </a:pPr>
            <a:r>
              <a:rPr lang="en-GB" b="0" dirty="0">
                <a:solidFill>
                  <a:schemeClr val="accent1">
                    <a:lumMod val="75000"/>
                  </a:schemeClr>
                </a:solidFill>
              </a:rPr>
              <a:t>'Error: object 'name' not found‘ </a:t>
            </a:r>
            <a:r>
              <a:rPr lang="en-GB" b="0" dirty="0">
                <a:solidFill>
                  <a:srgbClr val="000000"/>
                </a:solidFill>
              </a:rPr>
              <a:t>- R cannot find the object `name`. This could be because you've mistyped, because you need quotes around the name or because you are referring to a variable that does not yet exist.</a:t>
            </a:r>
          </a:p>
          <a:p>
            <a:pPr marL="171450" indent="-171450">
              <a:buFont typeface="Arial" panose="020B0604020202020204" pitchFamily="34" charset="0"/>
              <a:buChar char="•"/>
            </a:pPr>
            <a:r>
              <a:rPr lang="en-GB" b="0" dirty="0">
                <a:solidFill>
                  <a:schemeClr val="accent1">
                    <a:lumMod val="75000"/>
                  </a:schemeClr>
                </a:solidFill>
              </a:rPr>
              <a:t>'Could not find function "name"‘ </a:t>
            </a:r>
            <a:r>
              <a:rPr lang="en-GB" b="0" dirty="0">
                <a:solidFill>
                  <a:srgbClr val="000000"/>
                </a:solidFill>
              </a:rPr>
              <a:t>- R cannot find the function. This could be because you've mistyped or because you haven't used </a:t>
            </a:r>
            <a:r>
              <a:rPr lang="en-GB" b="0" dirty="0">
                <a:solidFill>
                  <a:srgbClr val="000000"/>
                </a:solidFill>
                <a:latin typeface="Courier New" panose="02070309020205020404" pitchFamily="49" charset="0"/>
                <a:cs typeface="Courier New" panose="02070309020205020404" pitchFamily="49" charset="0"/>
              </a:rPr>
              <a:t>library()</a:t>
            </a:r>
            <a:r>
              <a:rPr lang="en-GB" b="0" dirty="0">
                <a:solidFill>
                  <a:srgbClr val="000000"/>
                </a:solidFill>
              </a:rPr>
              <a:t> to load the package containing that function.</a:t>
            </a:r>
          </a:p>
          <a:p>
            <a:pPr marL="228600" indent="-228600">
              <a:buFont typeface="+mj-lt"/>
              <a:buAutoNum type="arabicPeriod"/>
            </a:pPr>
            <a:endParaRPr lang="en-GB" sz="300" b="0" dirty="0">
              <a:solidFill>
                <a:srgbClr val="000000"/>
              </a:solidFill>
            </a:endParaRPr>
          </a:p>
          <a:p>
            <a:r>
              <a:rPr lang="en-GB" dirty="0">
                <a:solidFill>
                  <a:schemeClr val="accent1">
                    <a:lumMod val="75000"/>
                  </a:schemeClr>
                </a:solidFill>
              </a:rPr>
              <a:t>Searching for help</a:t>
            </a:r>
          </a:p>
          <a:p>
            <a:r>
              <a:rPr lang="en-GB" b="0" dirty="0">
                <a:solidFill>
                  <a:srgbClr val="000000"/>
                </a:solidFill>
              </a:rPr>
              <a:t>Possibly the most important programming skill (and everyone does it!). Either google an error code or a question you have (e.g. “R delete variable from </a:t>
            </a:r>
            <a:r>
              <a:rPr lang="en-GB" b="0" dirty="0" err="1">
                <a:solidFill>
                  <a:srgbClr val="000000"/>
                </a:solidFill>
              </a:rPr>
              <a:t>dataframe</a:t>
            </a:r>
            <a:r>
              <a:rPr lang="en-GB" b="0" dirty="0">
                <a:solidFill>
                  <a:srgbClr val="000000"/>
                </a:solidFill>
              </a:rPr>
              <a:t>”). You may have to look at a number of the first links to find useful info. You may need to copy some code and try to adjust it to your problem at hand. </a:t>
            </a:r>
          </a:p>
          <a:p>
            <a:r>
              <a:rPr lang="en-GB" b="0" dirty="0">
                <a:solidFill>
                  <a:srgbClr val="000000"/>
                </a:solidFill>
              </a:rPr>
              <a:t>AI models like (ChatGPT or Copilot) will also provide help. They are great at explaining code. Think carefully about supplying the right amount of information.</a:t>
            </a:r>
          </a:p>
          <a:p>
            <a:r>
              <a:rPr lang="en-GB" b="0" dirty="0">
                <a:solidFill>
                  <a:srgbClr val="000000"/>
                </a:solidFill>
              </a:rPr>
              <a:t>Also don’t forget to use the R help function. E.g. type </a:t>
            </a:r>
            <a:r>
              <a:rPr lang="en-GB" b="0" dirty="0">
                <a:solidFill>
                  <a:srgbClr val="000000"/>
                </a:solidFill>
                <a:latin typeface="Courier New" panose="02070309020205020404" pitchFamily="49" charset="0"/>
                <a:cs typeface="Courier New" panose="02070309020205020404" pitchFamily="49" charset="0"/>
              </a:rPr>
              <a:t>?lm</a:t>
            </a:r>
            <a:r>
              <a:rPr lang="en-GB" b="0" dirty="0">
                <a:solidFill>
                  <a:srgbClr val="000000"/>
                </a:solidFill>
                <a:cs typeface="Courier New" panose="02070309020205020404" pitchFamily="49" charset="0"/>
              </a:rPr>
              <a:t> into the Console to get help on using the regression function.</a:t>
            </a:r>
            <a:endParaRPr lang="en-GB" b="0" dirty="0">
              <a:solidFill>
                <a:srgbClr val="000000"/>
              </a:solidFill>
            </a:endParaRPr>
          </a:p>
          <a:p>
            <a:r>
              <a:rPr lang="en-GB" b="0" dirty="0">
                <a:solidFill>
                  <a:srgbClr val="000000"/>
                </a:solidFill>
              </a:rPr>
              <a:t>Start solving your problem step-by-step, meaning that you try to create the smallest possible problem first before you make your problem more complicated.</a:t>
            </a:r>
          </a:p>
        </p:txBody>
      </p:sp>
      <p:graphicFrame>
        <p:nvGraphicFramePr>
          <p:cNvPr id="76" name="Table 75"/>
          <p:cNvGraphicFramePr>
            <a:graphicFrameLocks noGrp="1"/>
          </p:cNvGraphicFramePr>
          <p:nvPr>
            <p:extLst>
              <p:ext uri="{D42A27DB-BD31-4B8C-83A1-F6EECF244321}">
                <p14:modId xmlns:p14="http://schemas.microsoft.com/office/powerpoint/2010/main" val="1676460160"/>
              </p:ext>
            </p:extLst>
          </p:nvPr>
        </p:nvGraphicFramePr>
        <p:xfrm>
          <a:off x="4824760" y="1509068"/>
          <a:ext cx="4236690" cy="457865"/>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236690">
                  <a:extLst>
                    <a:ext uri="{9D8B030D-6E8A-4147-A177-3AD203B41FA5}">
                      <a16:colId xmlns:a16="http://schemas.microsoft.com/office/drawing/2014/main" val="20000"/>
                    </a:ext>
                  </a:extLst>
                </a:gridCol>
              </a:tblGrid>
              <a:tr h="457865">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kumimoji="0" lang="en-GB" sz="1200" b="1" i="0" u="none" strike="noStrike" cap="none" spc="0" normalizeH="0" baseline="0" dirty="0">
                          <a:ln>
                            <a:noFill/>
                          </a:ln>
                          <a:solidFill>
                            <a:srgbClr val="4C4C4C"/>
                          </a:solidFill>
                          <a:effectLst/>
                          <a:uFillTx/>
                          <a:latin typeface="Source Sans Pro"/>
                          <a:ea typeface="Source Sans Pro"/>
                          <a:cs typeface="Source Sans Pro"/>
                          <a:sym typeface="Source Sans Pro"/>
                        </a:rPr>
                        <a:t>Analyse the CO2 intensity of per capita income for some countries over a range of years.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6" name="Rectangle 15"/>
          <p:cNvSpPr/>
          <p:nvPr/>
        </p:nvSpPr>
        <p:spPr>
          <a:xfrm>
            <a:off x="9361264" y="8800901"/>
            <a:ext cx="1210588" cy="276999"/>
          </a:xfrm>
          <a:prstGeom prst="rect">
            <a:avLst/>
          </a:prstGeom>
        </p:spPr>
        <p:txBody>
          <a:bodyPr wrap="none">
            <a:spAutoFit/>
          </a:bodyPr>
          <a:lstStyle/>
          <a:p>
            <a:r>
              <a:rPr lang="en-GB" dirty="0">
                <a:solidFill>
                  <a:srgbClr val="000000"/>
                </a:solidFill>
              </a:rPr>
              <a:t>REGRESSION</a:t>
            </a:r>
          </a:p>
        </p:txBody>
      </p:sp>
      <p:pic>
        <p:nvPicPr>
          <p:cNvPr id="1042" name="Picture 1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12830" y="9802936"/>
            <a:ext cx="3800475" cy="41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3" name="Line"/>
          <p:cNvSpPr/>
          <p:nvPr/>
        </p:nvSpPr>
        <p:spPr>
          <a:xfrm>
            <a:off x="9361264" y="8853884"/>
            <a:ext cx="4392488"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04" name="Line"/>
          <p:cNvSpPr/>
          <p:nvPr/>
        </p:nvSpPr>
        <p:spPr>
          <a:xfrm>
            <a:off x="216248" y="8493844"/>
            <a:ext cx="4392488" cy="0"/>
          </a:xfrm>
          <a:prstGeom prst="line">
            <a:avLst/>
          </a:prstGeom>
          <a:ln w="12700">
            <a:solidFill>
              <a:srgbClr val="E4E4E3"/>
            </a:solidFill>
            <a:miter lim="400000"/>
          </a:ln>
        </p:spPr>
        <p:txBody>
          <a:bodyPr lIns="54570" tIns="54570" rIns="54570" bIns="54570" anchor="ctr"/>
          <a:lstStyle/>
          <a:p>
            <a:pPr>
              <a:lnSpc>
                <a:spcPct val="80000"/>
              </a:lnSpc>
              <a:spcBef>
                <a:spcPts val="600"/>
              </a:spcBef>
              <a:defRPr b="0">
                <a:solidFill>
                  <a:srgbClr val="000000"/>
                </a:solidFill>
              </a:defRPr>
            </a:pPr>
            <a:endParaRPr/>
          </a:p>
        </p:txBody>
      </p:sp>
      <p:sp>
        <p:nvSpPr>
          <p:cNvPr id="106" name="Rectangle 105"/>
          <p:cNvSpPr/>
          <p:nvPr/>
        </p:nvSpPr>
        <p:spPr>
          <a:xfrm>
            <a:off x="216249" y="8565852"/>
            <a:ext cx="1885453" cy="276999"/>
          </a:xfrm>
          <a:prstGeom prst="rect">
            <a:avLst/>
          </a:prstGeom>
        </p:spPr>
        <p:txBody>
          <a:bodyPr wrap="none">
            <a:spAutoFit/>
          </a:bodyPr>
          <a:lstStyle/>
          <a:p>
            <a:r>
              <a:rPr lang="en-GB" dirty="0">
                <a:solidFill>
                  <a:srgbClr val="000000"/>
                </a:solidFill>
              </a:rPr>
              <a:t>BOOLEAN VARIABLES</a:t>
            </a:r>
          </a:p>
        </p:txBody>
      </p:sp>
      <p:graphicFrame>
        <p:nvGraphicFramePr>
          <p:cNvPr id="108" name="Table 107"/>
          <p:cNvGraphicFramePr>
            <a:graphicFrameLocks noGrp="1"/>
          </p:cNvGraphicFramePr>
          <p:nvPr>
            <p:extLst>
              <p:ext uri="{D42A27DB-BD31-4B8C-83A1-F6EECF244321}">
                <p14:modId xmlns:p14="http://schemas.microsoft.com/office/powerpoint/2010/main" val="366996731"/>
              </p:ext>
            </p:extLst>
          </p:nvPr>
        </p:nvGraphicFramePr>
        <p:xfrm>
          <a:off x="227029" y="8830205"/>
          <a:ext cx="4236690" cy="1074355"/>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1501387">
                  <a:extLst>
                    <a:ext uri="{9D8B030D-6E8A-4147-A177-3AD203B41FA5}">
                      <a16:colId xmlns:a16="http://schemas.microsoft.com/office/drawing/2014/main" val="20000"/>
                    </a:ext>
                  </a:extLst>
                </a:gridCol>
                <a:gridCol w="2735303">
                  <a:extLst>
                    <a:ext uri="{9D8B030D-6E8A-4147-A177-3AD203B41FA5}">
                      <a16:colId xmlns:a16="http://schemas.microsoft.com/office/drawing/2014/main" val="20001"/>
                    </a:ext>
                  </a:extLst>
                </a:gridCol>
              </a:tblGrid>
              <a:tr h="1074355">
                <a:tc>
                  <a:txBody>
                    <a:bodyPr/>
                    <a:lstStyle/>
                    <a:p>
                      <a:pPr algn="l"/>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lang="en-GB" sz="1200" b="0" i="0" u="none" strike="noStrike" cap="none" spc="0" baseline="0" dirty="0">
                          <a:ln>
                            <a:noFill/>
                          </a:ln>
                          <a:solidFill>
                            <a:srgbClr val="000000"/>
                          </a:solidFill>
                          <a:uFillTx/>
                          <a:latin typeface="+mn-lt"/>
                          <a:ea typeface="+mn-ea"/>
                          <a:cs typeface="+mn-cs"/>
                          <a:sym typeface="Helvetica Light"/>
                        </a:rPr>
                        <a:t>Variables which take TRUE or FALSE as values. You can assign the result to a new variable. These variables have many uses. Combine conditions with “</a:t>
                      </a:r>
                      <a:r>
                        <a:rPr lang="en-GB" sz="1200" b="0" i="0" u="none" strike="noStrike" cap="none" spc="0" baseline="0" dirty="0">
                          <a:ln>
                            <a:noFill/>
                          </a:ln>
                          <a:solidFill>
                            <a:srgbClr val="000000"/>
                          </a:solidFill>
                          <a:uFillTx/>
                          <a:latin typeface="Courier New" panose="02070309020205020404" pitchFamily="49" charset="0"/>
                          <a:ea typeface="+mn-ea"/>
                          <a:cs typeface="Courier New" panose="02070309020205020404" pitchFamily="49" charset="0"/>
                          <a:sym typeface="Helvetica Light"/>
                        </a:rPr>
                        <a:t>&amp;</a:t>
                      </a:r>
                      <a:r>
                        <a:rPr lang="en-GB" sz="1200" b="0" i="0" u="none" strike="noStrike" cap="none" spc="0" baseline="0" dirty="0">
                          <a:ln>
                            <a:noFill/>
                          </a:ln>
                          <a:solidFill>
                            <a:srgbClr val="000000"/>
                          </a:solidFill>
                          <a:uFillTx/>
                          <a:latin typeface="+mn-lt"/>
                          <a:ea typeface="+mn-ea"/>
                          <a:cs typeface="+mn-cs"/>
                          <a:sym typeface="Helvetica Light"/>
                        </a:rPr>
                        <a:t>” (and) or “</a:t>
                      </a:r>
                      <a:r>
                        <a:rPr lang="en-GB" sz="1200" b="0" i="0" u="none" strike="noStrike" cap="none" spc="0" baseline="0" dirty="0">
                          <a:ln>
                            <a:noFill/>
                          </a:ln>
                          <a:solidFill>
                            <a:srgbClr val="000000"/>
                          </a:solidFill>
                          <a:uFillTx/>
                          <a:latin typeface="Courier New" panose="02070309020205020404" pitchFamily="49" charset="0"/>
                          <a:ea typeface="+mn-ea"/>
                          <a:cs typeface="Courier New" panose="02070309020205020404" pitchFamily="49" charset="0"/>
                          <a:sym typeface="Helvetica Light"/>
                        </a:rPr>
                        <a:t>|</a:t>
                      </a:r>
                      <a:r>
                        <a:rPr lang="en-GB" sz="1200" b="0" i="0" u="none" strike="noStrike" cap="none" spc="0" baseline="0" dirty="0">
                          <a:ln>
                            <a:noFill/>
                          </a:ln>
                          <a:solidFill>
                            <a:srgbClr val="000000"/>
                          </a:solidFill>
                          <a:uFillTx/>
                          <a:latin typeface="+mn-lt"/>
                          <a:ea typeface="+mn-ea"/>
                          <a:cs typeface="+mn-cs"/>
                          <a:sym typeface="Helvetica Light"/>
                        </a:rPr>
                        <a:t>” (or).</a:t>
                      </a:r>
                      <a:endParaRPr lang="en-GB" sz="1200" b="0" i="0" u="none" strike="noStrike" cap="none" spc="0" baseline="0" dirty="0">
                        <a:ln>
                          <a:noFill/>
                        </a:ln>
                        <a:solidFill>
                          <a:srgbClr val="000000"/>
                        </a:solidFill>
                        <a:uFillTx/>
                        <a:latin typeface="+mn-lt"/>
                        <a:ea typeface="+mn-ea"/>
                        <a:cs typeface="+mn-cs"/>
                        <a:sym typeface="Source Sans Pr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bl>
          </a:graphicData>
        </a:graphic>
      </p:graphicFrame>
      <p:sp>
        <p:nvSpPr>
          <p:cNvPr id="3" name="TextBox 2"/>
          <p:cNvSpPr txBox="1"/>
          <p:nvPr/>
        </p:nvSpPr>
        <p:spPr>
          <a:xfrm>
            <a:off x="2109110" y="3381276"/>
            <a:ext cx="2283602"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GB" sz="1200" b="0" i="0" u="none" strike="noStrike" cap="none" spc="0" normalizeH="0" baseline="0" dirty="0">
                <a:ln>
                  <a:noFill/>
                </a:ln>
                <a:solidFill>
                  <a:schemeClr val="tx1"/>
                </a:solidFill>
                <a:effectLst/>
                <a:uFillTx/>
                <a:latin typeface="Source Sans Pro"/>
                <a:ea typeface="Source Sans Pro"/>
                <a:cs typeface="Source Sans Pro"/>
                <a:sym typeface="Source Sans Pro"/>
              </a:rPr>
              <a:t>Click install and search for package name</a:t>
            </a:r>
          </a:p>
        </p:txBody>
      </p:sp>
      <p:graphicFrame>
        <p:nvGraphicFramePr>
          <p:cNvPr id="88" name="Table 87"/>
          <p:cNvGraphicFramePr>
            <a:graphicFrameLocks noGrp="1"/>
          </p:cNvGraphicFramePr>
          <p:nvPr>
            <p:extLst>
              <p:ext uri="{D42A27DB-BD31-4B8C-83A1-F6EECF244321}">
                <p14:modId xmlns:p14="http://schemas.microsoft.com/office/powerpoint/2010/main" val="2046035773"/>
              </p:ext>
            </p:extLst>
          </p:nvPr>
        </p:nvGraphicFramePr>
        <p:xfrm>
          <a:off x="4824760" y="2157141"/>
          <a:ext cx="4236690" cy="799961"/>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236690">
                  <a:extLst>
                    <a:ext uri="{9D8B030D-6E8A-4147-A177-3AD203B41FA5}">
                      <a16:colId xmlns:a16="http://schemas.microsoft.com/office/drawing/2014/main" val="20000"/>
                    </a:ext>
                  </a:extLst>
                </a:gridCol>
              </a:tblGrid>
              <a:tr h="257545">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lang="en-GB" sz="1200" b="0" dirty="0">
                          <a:solidFill>
                            <a:srgbClr val="000000"/>
                          </a:solidFill>
                        </a:rPr>
                        <a:t>Upload packages</a:t>
                      </a:r>
                      <a:r>
                        <a:rPr lang="en-GB" sz="1200" b="0" baseline="0" dirty="0">
                          <a:solidFill>
                            <a:srgbClr val="000000"/>
                          </a:solidFill>
                        </a:rPr>
                        <a:t> (assuming that these are installed)</a:t>
                      </a:r>
                      <a:endParaRPr kumimoji="0" lang="en-GB" sz="1200" b="1" i="0" u="none" strike="noStrike" cap="none" spc="0" normalizeH="0" baseline="0" dirty="0">
                        <a:ln>
                          <a:noFill/>
                        </a:ln>
                        <a:solidFill>
                          <a:schemeClr val="accent1">
                            <a:lumMod val="75000"/>
                          </a:schemeClr>
                        </a:solidFill>
                        <a:effectLst/>
                        <a:uFillTx/>
                        <a:latin typeface="Courier New" panose="02070309020205020404" pitchFamily="49" charset="0"/>
                        <a:ea typeface="Source Sans Pro"/>
                        <a:cs typeface="Courier New" panose="02070309020205020404" pitchFamily="49" charset="0"/>
                        <a:sym typeface="Source Sans Pr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r h="525641">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5" name="Picture 4"/>
          <p:cNvPicPr>
            <a:picLocks noChangeAspect="1"/>
          </p:cNvPicPr>
          <p:nvPr/>
        </p:nvPicPr>
        <p:blipFill>
          <a:blip r:embed="rId14"/>
          <a:stretch>
            <a:fillRect/>
          </a:stretch>
        </p:blipFill>
        <p:spPr>
          <a:xfrm>
            <a:off x="4896768" y="2517180"/>
            <a:ext cx="2387381" cy="423146"/>
          </a:xfrm>
          <a:prstGeom prst="rect">
            <a:avLst/>
          </a:prstGeom>
        </p:spPr>
      </p:pic>
      <p:graphicFrame>
        <p:nvGraphicFramePr>
          <p:cNvPr id="84" name="Table 83"/>
          <p:cNvGraphicFramePr>
            <a:graphicFrameLocks noGrp="1"/>
          </p:cNvGraphicFramePr>
          <p:nvPr>
            <p:extLst>
              <p:ext uri="{D42A27DB-BD31-4B8C-83A1-F6EECF244321}">
                <p14:modId xmlns:p14="http://schemas.microsoft.com/office/powerpoint/2010/main" val="987009805"/>
              </p:ext>
            </p:extLst>
          </p:nvPr>
        </p:nvGraphicFramePr>
        <p:xfrm>
          <a:off x="4824760" y="3021236"/>
          <a:ext cx="4236690" cy="712455"/>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236690">
                  <a:extLst>
                    <a:ext uri="{9D8B030D-6E8A-4147-A177-3AD203B41FA5}">
                      <a16:colId xmlns:a16="http://schemas.microsoft.com/office/drawing/2014/main" val="20000"/>
                    </a:ext>
                  </a:extLst>
                </a:gridCol>
              </a:tblGrid>
              <a:tr h="214670">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lang="en-GB" sz="1200" b="0" dirty="0">
                          <a:solidFill>
                            <a:srgbClr val="000000"/>
                          </a:solidFill>
                        </a:rPr>
                        <a:t>Load data (assumed to be in a “Data” folder)</a:t>
                      </a:r>
                      <a:endParaRPr kumimoji="0" lang="en-GB" sz="1200" b="1" i="0" u="none" strike="noStrike" cap="none" spc="0" normalizeH="0" baseline="0" dirty="0">
                        <a:ln>
                          <a:noFill/>
                        </a:ln>
                        <a:solidFill>
                          <a:schemeClr val="accent1">
                            <a:lumMod val="75000"/>
                          </a:schemeClr>
                        </a:solidFill>
                        <a:effectLst/>
                        <a:uFillTx/>
                        <a:latin typeface="Courier New" panose="02070309020205020404" pitchFamily="49" charset="0"/>
                        <a:ea typeface="Source Sans Pro"/>
                        <a:cs typeface="Courier New" panose="02070309020205020404" pitchFamily="49" charset="0"/>
                        <a:sym typeface="Source Sans Pr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r h="438135">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6" name="Picture 5"/>
          <p:cNvPicPr>
            <a:picLocks noChangeAspect="1"/>
          </p:cNvPicPr>
          <p:nvPr/>
        </p:nvPicPr>
        <p:blipFill>
          <a:blip r:embed="rId15"/>
          <a:stretch>
            <a:fillRect/>
          </a:stretch>
        </p:blipFill>
        <p:spPr>
          <a:xfrm>
            <a:off x="4914517" y="3361925"/>
            <a:ext cx="3510643" cy="307383"/>
          </a:xfrm>
          <a:prstGeom prst="rect">
            <a:avLst/>
          </a:prstGeom>
        </p:spPr>
      </p:pic>
      <p:graphicFrame>
        <p:nvGraphicFramePr>
          <p:cNvPr id="85" name="Table 84"/>
          <p:cNvGraphicFramePr>
            <a:graphicFrameLocks noGrp="1"/>
          </p:cNvGraphicFramePr>
          <p:nvPr>
            <p:extLst>
              <p:ext uri="{D42A27DB-BD31-4B8C-83A1-F6EECF244321}">
                <p14:modId xmlns:p14="http://schemas.microsoft.com/office/powerpoint/2010/main" val="4128658141"/>
              </p:ext>
            </p:extLst>
          </p:nvPr>
        </p:nvGraphicFramePr>
        <p:xfrm>
          <a:off x="4824760" y="3813324"/>
          <a:ext cx="4236690" cy="1699652"/>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236690">
                  <a:extLst>
                    <a:ext uri="{9D8B030D-6E8A-4147-A177-3AD203B41FA5}">
                      <a16:colId xmlns:a16="http://schemas.microsoft.com/office/drawing/2014/main" val="20000"/>
                    </a:ext>
                  </a:extLst>
                </a:gridCol>
              </a:tblGrid>
              <a:tr h="308569">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lang="en-GB" sz="1200" b="0" dirty="0">
                          <a:solidFill>
                            <a:srgbClr val="000000"/>
                          </a:solidFill>
                        </a:rPr>
                        <a:t>Check</a:t>
                      </a:r>
                      <a:r>
                        <a:rPr lang="en-GB" sz="1200" b="0" baseline="0" dirty="0">
                          <a:solidFill>
                            <a:srgbClr val="000000"/>
                          </a:solidFill>
                        </a:rPr>
                        <a:t> content of </a:t>
                      </a:r>
                      <a:r>
                        <a:rPr lang="en-GB" sz="1200" b="0" baseline="0" dirty="0" err="1">
                          <a:solidFill>
                            <a:srgbClr val="000000"/>
                          </a:solidFill>
                        </a:rPr>
                        <a:t>datafile</a:t>
                      </a:r>
                      <a:endParaRPr kumimoji="0" lang="en-GB" sz="1200" b="1" i="0" u="none" strike="noStrike" cap="none" spc="0" normalizeH="0" baseline="0" dirty="0">
                        <a:ln>
                          <a:noFill/>
                        </a:ln>
                        <a:solidFill>
                          <a:schemeClr val="accent1">
                            <a:lumMod val="75000"/>
                          </a:schemeClr>
                        </a:solidFill>
                        <a:effectLst/>
                        <a:uFillTx/>
                        <a:latin typeface="Courier New" panose="02070309020205020404" pitchFamily="49" charset="0"/>
                        <a:ea typeface="Source Sans Pro"/>
                        <a:cs typeface="Courier New" panose="02070309020205020404" pitchFamily="49" charset="0"/>
                        <a:sym typeface="Source Sans Pr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r h="1391083">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7" name="Picture 6"/>
          <p:cNvPicPr>
            <a:picLocks noChangeAspect="1"/>
          </p:cNvPicPr>
          <p:nvPr/>
        </p:nvPicPr>
        <p:blipFill>
          <a:blip r:embed="rId16"/>
          <a:stretch>
            <a:fillRect/>
          </a:stretch>
        </p:blipFill>
        <p:spPr>
          <a:xfrm>
            <a:off x="4896768" y="4173364"/>
            <a:ext cx="3685666" cy="358924"/>
          </a:xfrm>
          <a:prstGeom prst="rect">
            <a:avLst/>
          </a:prstGeom>
        </p:spPr>
      </p:pic>
      <p:pic>
        <p:nvPicPr>
          <p:cNvPr id="18" name="Picture 17"/>
          <p:cNvPicPr>
            <a:picLocks noChangeAspect="1"/>
          </p:cNvPicPr>
          <p:nvPr/>
        </p:nvPicPr>
        <p:blipFill>
          <a:blip r:embed="rId17"/>
          <a:stretch>
            <a:fillRect/>
          </a:stretch>
        </p:blipFill>
        <p:spPr>
          <a:xfrm>
            <a:off x="4896768" y="4879433"/>
            <a:ext cx="4148195" cy="158027"/>
          </a:xfrm>
          <a:prstGeom prst="rect">
            <a:avLst/>
          </a:prstGeom>
        </p:spPr>
      </p:pic>
      <p:sp>
        <p:nvSpPr>
          <p:cNvPr id="19" name="TextBox 18"/>
          <p:cNvSpPr txBox="1"/>
          <p:nvPr/>
        </p:nvSpPr>
        <p:spPr>
          <a:xfrm>
            <a:off x="4867248" y="4521605"/>
            <a:ext cx="2317541" cy="32052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GB" sz="1200" b="0" i="0" u="none" strike="noStrike" cap="none" spc="0" normalizeH="0" baseline="0" dirty="0" err="1">
                <a:ln>
                  <a:noFill/>
                </a:ln>
                <a:solidFill>
                  <a:srgbClr val="4C4C4C"/>
                </a:solidFill>
                <a:effectLst/>
                <a:uFillTx/>
                <a:latin typeface="Source Sans Pro"/>
                <a:ea typeface="Source Sans Pro"/>
                <a:cs typeface="Source Sans Pro"/>
                <a:sym typeface="Source Sans Pro"/>
              </a:rPr>
              <a:t>Datafile</a:t>
            </a:r>
            <a:r>
              <a:rPr kumimoji="0" lang="en-GB" sz="1200" b="0" i="0" u="none" strike="noStrike" cap="none" spc="0" normalizeH="0" baseline="0" dirty="0">
                <a:ln>
                  <a:noFill/>
                </a:ln>
                <a:solidFill>
                  <a:srgbClr val="4C4C4C"/>
                </a:solidFill>
                <a:effectLst/>
                <a:uFillTx/>
                <a:latin typeface="Source Sans Pro"/>
                <a:ea typeface="Source Sans Pro"/>
                <a:cs typeface="Source Sans Pro"/>
                <a:sym typeface="Source Sans Pro"/>
              </a:rPr>
              <a:t> contains these</a:t>
            </a:r>
            <a:r>
              <a:rPr kumimoji="0" lang="en-GB" sz="1200" b="0" i="0" u="none" strike="noStrike" cap="none" spc="0" normalizeH="0" dirty="0">
                <a:ln>
                  <a:noFill/>
                </a:ln>
                <a:solidFill>
                  <a:srgbClr val="4C4C4C"/>
                </a:solidFill>
                <a:effectLst/>
                <a:uFillTx/>
                <a:latin typeface="Source Sans Pro"/>
                <a:ea typeface="Source Sans Pro"/>
                <a:cs typeface="Source Sans Pro"/>
                <a:sym typeface="Source Sans Pro"/>
              </a:rPr>
              <a:t> variables</a:t>
            </a:r>
            <a:endParaRPr kumimoji="0" lang="en-GB" sz="1200" b="0" i="0" u="none" strike="noStrike" cap="none" spc="0" normalizeH="0" baseline="0" dirty="0">
              <a:ln>
                <a:noFill/>
              </a:ln>
              <a:solidFill>
                <a:srgbClr val="4C4C4C"/>
              </a:solidFill>
              <a:effectLst/>
              <a:uFillTx/>
              <a:latin typeface="Source Sans Pro"/>
              <a:ea typeface="Source Sans Pro"/>
              <a:cs typeface="Source Sans Pro"/>
              <a:sym typeface="Source Sans Pro"/>
            </a:endParaRPr>
          </a:p>
        </p:txBody>
      </p:sp>
      <p:sp>
        <p:nvSpPr>
          <p:cNvPr id="90" name="TextBox 89"/>
          <p:cNvSpPr txBox="1"/>
          <p:nvPr/>
        </p:nvSpPr>
        <p:spPr>
          <a:xfrm>
            <a:off x="4883483" y="4964322"/>
            <a:ext cx="3351478" cy="50518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4570" tIns="54570" rIns="54570" bIns="54570" numCol="1" spcCol="38100" rtlCol="0" anchor="ctr">
            <a:spAutoFit/>
          </a:bodyPr>
          <a:lstStyle/>
          <a:p>
            <a:pPr marL="0" marR="0" indent="0" algn="l" defTabSz="584200" rtl="0" fontAlgn="auto" latinLnBrk="0" hangingPunct="0">
              <a:lnSpc>
                <a:spcPct val="100000"/>
              </a:lnSpc>
              <a:spcBef>
                <a:spcPts val="200"/>
              </a:spcBef>
              <a:spcAft>
                <a:spcPts val="0"/>
              </a:spcAft>
              <a:buClrTx/>
              <a:buSzTx/>
              <a:buFontTx/>
              <a:buNone/>
              <a:tabLst/>
            </a:pPr>
            <a:r>
              <a:rPr kumimoji="0" lang="en-GB" sz="1200" b="0" i="0" u="none" strike="noStrike" cap="none" spc="0" normalizeH="0" baseline="0" dirty="0">
                <a:ln>
                  <a:noFill/>
                </a:ln>
                <a:solidFill>
                  <a:srgbClr val="4C4C4C"/>
                </a:solidFill>
                <a:effectLst/>
                <a:uFillTx/>
                <a:latin typeface="Source Sans Pro"/>
                <a:ea typeface="Source Sans Pro"/>
                <a:cs typeface="Source Sans Pro"/>
                <a:sym typeface="Source Sans Pro"/>
              </a:rPr>
              <a:t>Check variable types by clicking on                 in</a:t>
            </a:r>
            <a:br>
              <a:rPr kumimoji="0" lang="en-GB" sz="1200" b="0" i="0" u="none" strike="noStrike" cap="none" spc="0" normalizeH="0" baseline="0" dirty="0">
                <a:ln>
                  <a:noFill/>
                </a:ln>
                <a:solidFill>
                  <a:srgbClr val="4C4C4C"/>
                </a:solidFill>
                <a:effectLst/>
                <a:uFillTx/>
                <a:latin typeface="Source Sans Pro"/>
                <a:ea typeface="Source Sans Pro"/>
                <a:cs typeface="Source Sans Pro"/>
                <a:sym typeface="Source Sans Pro"/>
              </a:rPr>
            </a:br>
            <a:r>
              <a:rPr kumimoji="0" lang="en-GB" sz="1200" b="0" i="0" u="none" strike="noStrike" cap="none" spc="0" normalizeH="0" baseline="0" dirty="0">
                <a:ln>
                  <a:noFill/>
                </a:ln>
                <a:solidFill>
                  <a:srgbClr val="4C4C4C"/>
                </a:solidFill>
                <a:effectLst/>
                <a:uFillTx/>
                <a:latin typeface="Source Sans Pro"/>
                <a:ea typeface="Source Sans Pro"/>
                <a:cs typeface="Source Sans Pro"/>
                <a:sym typeface="Source Sans Pro"/>
              </a:rPr>
              <a:t>Environment tab </a:t>
            </a:r>
          </a:p>
        </p:txBody>
      </p:sp>
      <p:pic>
        <p:nvPicPr>
          <p:cNvPr id="20" name="Picture 19"/>
          <p:cNvPicPr>
            <a:picLocks noChangeAspect="1"/>
          </p:cNvPicPr>
          <p:nvPr/>
        </p:nvPicPr>
        <p:blipFill>
          <a:blip r:embed="rId18"/>
          <a:stretch>
            <a:fillRect/>
          </a:stretch>
        </p:blipFill>
        <p:spPr>
          <a:xfrm>
            <a:off x="7325875" y="5082562"/>
            <a:ext cx="689030" cy="170922"/>
          </a:xfrm>
          <a:prstGeom prst="rect">
            <a:avLst/>
          </a:prstGeom>
        </p:spPr>
      </p:pic>
      <p:graphicFrame>
        <p:nvGraphicFramePr>
          <p:cNvPr id="93" name="Table 92"/>
          <p:cNvGraphicFramePr>
            <a:graphicFrameLocks noGrp="1"/>
          </p:cNvGraphicFramePr>
          <p:nvPr>
            <p:extLst>
              <p:ext uri="{D42A27DB-BD31-4B8C-83A1-F6EECF244321}">
                <p14:modId xmlns:p14="http://schemas.microsoft.com/office/powerpoint/2010/main" val="3031574706"/>
              </p:ext>
            </p:extLst>
          </p:nvPr>
        </p:nvGraphicFramePr>
        <p:xfrm>
          <a:off x="4824760" y="5621149"/>
          <a:ext cx="4236690" cy="895335"/>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236690">
                  <a:extLst>
                    <a:ext uri="{9D8B030D-6E8A-4147-A177-3AD203B41FA5}">
                      <a16:colId xmlns:a16="http://schemas.microsoft.com/office/drawing/2014/main" val="20000"/>
                    </a:ext>
                  </a:extLst>
                </a:gridCol>
              </a:tblGrid>
              <a:tr h="214670">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lang="en-GB" sz="1200" b="0" dirty="0">
                          <a:solidFill>
                            <a:srgbClr val="000000"/>
                          </a:solidFill>
                        </a:rPr>
                        <a:t>Drop incomplete observations (you need to think whether this is what you want to do!) and save in </a:t>
                      </a:r>
                      <a:r>
                        <a:rPr lang="en-GB" sz="1200" b="0" dirty="0" err="1">
                          <a:solidFill>
                            <a:srgbClr val="0070C0"/>
                          </a:solidFill>
                          <a:latin typeface="Courier New" panose="02070309020205020404" pitchFamily="49" charset="0"/>
                          <a:cs typeface="Courier New" panose="02070309020205020404" pitchFamily="49" charset="0"/>
                        </a:rPr>
                        <a:t>dat_comp</a:t>
                      </a:r>
                      <a:r>
                        <a:rPr lang="en-GB" sz="1200" b="0" dirty="0">
                          <a:solidFill>
                            <a:srgbClr val="000000"/>
                          </a:solidFill>
                        </a:rPr>
                        <a:t>.</a:t>
                      </a:r>
                      <a:endParaRPr kumimoji="0" lang="en-GB" sz="1200" b="1" i="0" u="none" strike="noStrike" cap="none" spc="0" normalizeH="0" baseline="0" dirty="0">
                        <a:ln>
                          <a:noFill/>
                        </a:ln>
                        <a:solidFill>
                          <a:schemeClr val="accent1">
                            <a:lumMod val="75000"/>
                          </a:schemeClr>
                        </a:solidFill>
                        <a:effectLst/>
                        <a:uFillTx/>
                        <a:latin typeface="Courier New" panose="02070309020205020404" pitchFamily="49" charset="0"/>
                        <a:ea typeface="Source Sans Pro"/>
                        <a:cs typeface="Courier New" panose="02070309020205020404" pitchFamily="49" charset="0"/>
                        <a:sym typeface="Source Sans Pr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r h="438135">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1" name="Picture 20"/>
          <p:cNvPicPr>
            <a:picLocks noChangeAspect="1"/>
          </p:cNvPicPr>
          <p:nvPr/>
        </p:nvPicPr>
        <p:blipFill>
          <a:blip r:embed="rId19"/>
          <a:stretch>
            <a:fillRect/>
          </a:stretch>
        </p:blipFill>
        <p:spPr>
          <a:xfrm>
            <a:off x="4954291" y="6207974"/>
            <a:ext cx="2894898" cy="167982"/>
          </a:xfrm>
          <a:prstGeom prst="rect">
            <a:avLst/>
          </a:prstGeom>
        </p:spPr>
      </p:pic>
      <p:graphicFrame>
        <p:nvGraphicFramePr>
          <p:cNvPr id="94" name="Table 93"/>
          <p:cNvGraphicFramePr>
            <a:graphicFrameLocks noGrp="1"/>
          </p:cNvGraphicFramePr>
          <p:nvPr>
            <p:extLst>
              <p:ext uri="{D42A27DB-BD31-4B8C-83A1-F6EECF244321}">
                <p14:modId xmlns:p14="http://schemas.microsoft.com/office/powerpoint/2010/main" val="1686967114"/>
              </p:ext>
            </p:extLst>
          </p:nvPr>
        </p:nvGraphicFramePr>
        <p:xfrm>
          <a:off x="4824760" y="6590397"/>
          <a:ext cx="4236690" cy="1739167"/>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236690">
                  <a:extLst>
                    <a:ext uri="{9D8B030D-6E8A-4147-A177-3AD203B41FA5}">
                      <a16:colId xmlns:a16="http://schemas.microsoft.com/office/drawing/2014/main" val="20000"/>
                    </a:ext>
                  </a:extLst>
                </a:gridCol>
              </a:tblGrid>
              <a:tr h="746461">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kumimoji="0" lang="en-GB" sz="1200" b="0" i="0" u="none" strike="noStrike" cap="none" spc="0" normalizeH="0" baseline="0" dirty="0">
                          <a:ln>
                            <a:noFill/>
                          </a:ln>
                          <a:solidFill>
                            <a:srgbClr val="000000"/>
                          </a:solidFill>
                          <a:effectLst/>
                          <a:uFillTx/>
                          <a:latin typeface="+mn-lt"/>
                          <a:ea typeface="+mn-ea"/>
                          <a:cs typeface="+mn-cs"/>
                          <a:sym typeface="Helvetica Light"/>
                        </a:rPr>
                        <a:t>Calculate new intensity variable (</a:t>
                      </a:r>
                      <a:r>
                        <a:rPr kumimoji="0" lang="en-GB" sz="1200" b="0" i="0" u="none" strike="noStrike" cap="none" spc="0" normalizeH="0" baseline="0" dirty="0">
                          <a:ln>
                            <a:noFill/>
                          </a:ln>
                          <a:solidFill>
                            <a:srgbClr val="0070C0"/>
                          </a:solidFill>
                          <a:effectLst/>
                          <a:uFillTx/>
                          <a:latin typeface="Courier New" panose="02070309020205020404" pitchFamily="49" charset="0"/>
                          <a:ea typeface="+mn-ea"/>
                          <a:cs typeface="Courier New" panose="02070309020205020404" pitchFamily="49" charset="0"/>
                          <a:sym typeface="Helvetica Light"/>
                        </a:rPr>
                        <a:t>mutate</a:t>
                      </a:r>
                      <a:r>
                        <a:rPr kumimoji="0" lang="en-GB" sz="1200" b="0" i="0" u="none" strike="noStrike" cap="none" spc="0" normalizeH="0" baseline="0" dirty="0">
                          <a:ln>
                            <a:noFill/>
                          </a:ln>
                          <a:solidFill>
                            <a:srgbClr val="000000"/>
                          </a:solidFill>
                          <a:effectLst/>
                          <a:uFillTx/>
                          <a:latin typeface="+mn-lt"/>
                          <a:ea typeface="+mn-ea"/>
                          <a:cs typeface="+mn-cs"/>
                          <a:sym typeface="Helvetica Light"/>
                        </a:rPr>
                        <a:t>), group data by country (</a:t>
                      </a:r>
                      <a:r>
                        <a:rPr kumimoji="0" lang="en-GB" sz="1200" b="0" i="0" u="none" strike="noStrike" cap="none" spc="0" normalizeH="0" baseline="0" dirty="0" err="1">
                          <a:ln>
                            <a:noFill/>
                          </a:ln>
                          <a:solidFill>
                            <a:srgbClr val="0070C0"/>
                          </a:solidFill>
                          <a:effectLst/>
                          <a:uFillTx/>
                          <a:latin typeface="Courier New" panose="02070309020205020404" pitchFamily="49" charset="0"/>
                          <a:ea typeface="+mn-ea"/>
                          <a:cs typeface="Courier New" panose="02070309020205020404" pitchFamily="49" charset="0"/>
                          <a:sym typeface="Helvetica Light"/>
                        </a:rPr>
                        <a:t>group_by</a:t>
                      </a:r>
                      <a:r>
                        <a:rPr kumimoji="0" lang="en-GB" sz="1200" b="0" i="0" u="none" strike="noStrike" cap="none" spc="0" normalizeH="0" baseline="0" dirty="0">
                          <a:ln>
                            <a:noFill/>
                          </a:ln>
                          <a:solidFill>
                            <a:srgbClr val="000000"/>
                          </a:solidFill>
                          <a:effectLst/>
                          <a:uFillTx/>
                          <a:latin typeface="+mn-lt"/>
                          <a:ea typeface="+mn-ea"/>
                          <a:cs typeface="+mn-cs"/>
                          <a:sym typeface="Helvetica Light"/>
                        </a:rPr>
                        <a:t>) and summarise (</a:t>
                      </a:r>
                      <a:r>
                        <a:rPr kumimoji="0" lang="en-GB" sz="1200" b="0" i="0" u="none" strike="noStrike" cap="none" spc="0" normalizeH="0" baseline="0" dirty="0">
                          <a:ln>
                            <a:noFill/>
                          </a:ln>
                          <a:solidFill>
                            <a:srgbClr val="0070C0"/>
                          </a:solidFill>
                          <a:effectLst/>
                          <a:uFillTx/>
                          <a:latin typeface="Courier New" panose="02070309020205020404" pitchFamily="49" charset="0"/>
                          <a:ea typeface="+mn-ea"/>
                          <a:cs typeface="Courier New" panose="02070309020205020404" pitchFamily="49" charset="0"/>
                          <a:sym typeface="Helvetica Light"/>
                        </a:rPr>
                        <a:t>summarise</a:t>
                      </a:r>
                      <a:r>
                        <a:rPr kumimoji="0" lang="en-GB" sz="1200" b="0" i="0" u="none" strike="noStrike" cap="none" spc="0" normalizeH="0" baseline="0" dirty="0">
                          <a:ln>
                            <a:noFill/>
                          </a:ln>
                          <a:solidFill>
                            <a:srgbClr val="000000"/>
                          </a:solidFill>
                          <a:effectLst/>
                          <a:uFillTx/>
                          <a:latin typeface="+mn-lt"/>
                          <a:ea typeface="+mn-ea"/>
                          <a:cs typeface="+mn-cs"/>
                          <a:sym typeface="Helvetica Light"/>
                        </a:rPr>
                        <a:t>) the grouped observations with their mean value (</a:t>
                      </a:r>
                      <a:r>
                        <a:rPr kumimoji="0" lang="en-GB" sz="1200" b="0" i="0" u="none" strike="noStrike" cap="none" spc="0" normalizeH="0" baseline="0" dirty="0">
                          <a:ln>
                            <a:noFill/>
                          </a:ln>
                          <a:solidFill>
                            <a:srgbClr val="0070C0"/>
                          </a:solidFill>
                          <a:effectLst/>
                          <a:uFillTx/>
                          <a:latin typeface="Courier New" panose="02070309020205020404" pitchFamily="49" charset="0"/>
                          <a:ea typeface="+mn-ea"/>
                          <a:cs typeface="Courier New" panose="02070309020205020404" pitchFamily="49" charset="0"/>
                          <a:sym typeface="Helvetica Light"/>
                        </a:rPr>
                        <a:t>mean</a:t>
                      </a:r>
                      <a:r>
                        <a:rPr kumimoji="0" lang="en-GB" sz="1200" b="0" i="0" u="none" strike="noStrike" cap="none" spc="0" normalizeH="0" baseline="0" dirty="0">
                          <a:ln>
                            <a:noFill/>
                          </a:ln>
                          <a:solidFill>
                            <a:srgbClr val="000000"/>
                          </a:solidFill>
                          <a:effectLst/>
                          <a:uFillTx/>
                          <a:latin typeface="+mn-lt"/>
                          <a:ea typeface="+mn-ea"/>
                          <a:cs typeface="+mn-cs"/>
                          <a:sym typeface="Helvetica Light"/>
                        </a:rPr>
                        <a:t>). Ensure that results are ordered from largest to smallest (</a:t>
                      </a:r>
                      <a:r>
                        <a:rPr kumimoji="0" lang="en-GB" sz="1200" b="0" i="0" u="none" strike="noStrike" cap="none" spc="0" normalizeH="0" baseline="0" dirty="0">
                          <a:ln>
                            <a:noFill/>
                          </a:ln>
                          <a:solidFill>
                            <a:srgbClr val="0070C0"/>
                          </a:solidFill>
                          <a:effectLst/>
                          <a:uFillTx/>
                          <a:latin typeface="Courier New" panose="02070309020205020404" pitchFamily="49" charset="0"/>
                          <a:ea typeface="+mn-ea"/>
                          <a:cs typeface="Courier New" panose="02070309020205020404" pitchFamily="49" charset="0"/>
                          <a:sym typeface="Helvetica Light"/>
                        </a:rPr>
                        <a:t>arrange</a:t>
                      </a:r>
                      <a:r>
                        <a:rPr kumimoji="0" lang="en-GB" sz="1200" b="0" i="0" u="none" strike="noStrike" cap="none" spc="0" normalizeH="0" baseline="0" dirty="0">
                          <a:ln>
                            <a:noFill/>
                          </a:ln>
                          <a:solidFill>
                            <a:srgbClr val="000000"/>
                          </a:solidFill>
                          <a:effectLst/>
                          <a:uFillTx/>
                          <a:latin typeface="+mn-lt"/>
                          <a:ea typeface="+mn-ea"/>
                          <a:cs typeface="+mn-cs"/>
                          <a:sym typeface="Helvetica Light"/>
                        </a:rPr>
                        <a:t>).</a:t>
                      </a:r>
                      <a:endParaRPr kumimoji="0" lang="en-GB" sz="1200" b="1" i="0" u="none" strike="noStrike" cap="none" spc="0" normalizeH="0" baseline="0" dirty="0">
                        <a:ln>
                          <a:noFill/>
                        </a:ln>
                        <a:solidFill>
                          <a:schemeClr val="accent1">
                            <a:lumMod val="75000"/>
                          </a:schemeClr>
                        </a:solidFill>
                        <a:effectLst/>
                        <a:uFillTx/>
                        <a:latin typeface="Courier New" panose="02070309020205020404" pitchFamily="49" charset="0"/>
                        <a:ea typeface="Source Sans Pro"/>
                        <a:cs typeface="Courier New" panose="02070309020205020404" pitchFamily="49" charset="0"/>
                        <a:sym typeface="Source Sans Pro"/>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r h="916207">
                <a:tc>
                  <a:txBody>
                    <a:bodyPr/>
                    <a:lstStyle/>
                    <a:p>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2" name="Picture 21"/>
          <p:cNvPicPr>
            <a:picLocks noChangeAspect="1"/>
          </p:cNvPicPr>
          <p:nvPr/>
        </p:nvPicPr>
        <p:blipFill>
          <a:blip r:embed="rId20"/>
          <a:stretch>
            <a:fillRect/>
          </a:stretch>
        </p:blipFill>
        <p:spPr>
          <a:xfrm>
            <a:off x="4928170" y="7485732"/>
            <a:ext cx="4001046" cy="747647"/>
          </a:xfrm>
          <a:prstGeom prst="rect">
            <a:avLst/>
          </a:prstGeom>
        </p:spPr>
      </p:pic>
      <p:pic>
        <p:nvPicPr>
          <p:cNvPr id="23" name="Picture 22"/>
          <p:cNvPicPr>
            <a:picLocks noChangeAspect="1"/>
          </p:cNvPicPr>
          <p:nvPr/>
        </p:nvPicPr>
        <p:blipFill>
          <a:blip r:embed="rId21"/>
          <a:stretch>
            <a:fillRect/>
          </a:stretch>
        </p:blipFill>
        <p:spPr>
          <a:xfrm>
            <a:off x="4896768" y="8493844"/>
            <a:ext cx="2101296" cy="911699"/>
          </a:xfrm>
          <a:prstGeom prst="rect">
            <a:avLst/>
          </a:prstGeom>
        </p:spPr>
      </p:pic>
      <p:graphicFrame>
        <p:nvGraphicFramePr>
          <p:cNvPr id="97" name="Table 96"/>
          <p:cNvGraphicFramePr>
            <a:graphicFrameLocks noGrp="1"/>
          </p:cNvGraphicFramePr>
          <p:nvPr>
            <p:extLst>
              <p:ext uri="{D42A27DB-BD31-4B8C-83A1-F6EECF244321}">
                <p14:modId xmlns:p14="http://schemas.microsoft.com/office/powerpoint/2010/main" val="2404271140"/>
              </p:ext>
            </p:extLst>
          </p:nvPr>
        </p:nvGraphicFramePr>
        <p:xfrm>
          <a:off x="4827613" y="8427601"/>
          <a:ext cx="4236690" cy="1188720"/>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2157387">
                  <a:extLst>
                    <a:ext uri="{9D8B030D-6E8A-4147-A177-3AD203B41FA5}">
                      <a16:colId xmlns:a16="http://schemas.microsoft.com/office/drawing/2014/main" val="20000"/>
                    </a:ext>
                  </a:extLst>
                </a:gridCol>
                <a:gridCol w="2079303">
                  <a:extLst>
                    <a:ext uri="{9D8B030D-6E8A-4147-A177-3AD203B41FA5}">
                      <a16:colId xmlns:a16="http://schemas.microsoft.com/office/drawing/2014/main" val="20001"/>
                    </a:ext>
                  </a:extLst>
                </a:gridCol>
              </a:tblGrid>
              <a:tr h="1074355">
                <a:tc>
                  <a:txBody>
                    <a:bodyPr/>
                    <a:lstStyle/>
                    <a:p>
                      <a:pPr algn="l"/>
                      <a:endParaRPr lang="en-GB"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lang="en-GB" sz="1200" b="0" i="0" u="none" strike="noStrike" cap="none" spc="0" baseline="0" dirty="0">
                          <a:ln>
                            <a:noFill/>
                          </a:ln>
                          <a:solidFill>
                            <a:srgbClr val="000000"/>
                          </a:solidFill>
                          <a:uFillTx/>
                          <a:latin typeface="+mn-lt"/>
                          <a:ea typeface="+mn-ea"/>
                          <a:cs typeface="+mn-cs"/>
                          <a:sym typeface="Source Sans Pro"/>
                        </a:rPr>
                        <a:t>We see that income is generated with significantly more CO2 emissions in South Korea and Canada when compared to Denmark and Nigeria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8E1F8"/>
                    </a:solidFill>
                  </a:tcPr>
                </a:tc>
                <a:extLst>
                  <a:ext uri="{0D108BD9-81ED-4DB2-BD59-A6C34878D82A}">
                    <a16:rowId xmlns:a16="http://schemas.microsoft.com/office/drawing/2014/main" val="10000"/>
                  </a:ext>
                </a:extLst>
              </a:tr>
            </a:tbl>
          </a:graphicData>
        </a:graphic>
      </p:graphicFrame>
      <p:graphicFrame>
        <p:nvGraphicFramePr>
          <p:cNvPr id="100" name="Table 99"/>
          <p:cNvGraphicFramePr>
            <a:graphicFrameLocks noGrp="1"/>
          </p:cNvGraphicFramePr>
          <p:nvPr>
            <p:extLst>
              <p:ext uri="{D42A27DB-BD31-4B8C-83A1-F6EECF244321}">
                <p14:modId xmlns:p14="http://schemas.microsoft.com/office/powerpoint/2010/main" val="2472294824"/>
              </p:ext>
            </p:extLst>
          </p:nvPr>
        </p:nvGraphicFramePr>
        <p:xfrm>
          <a:off x="4824760" y="9692163"/>
          <a:ext cx="4236690" cy="457865"/>
        </p:xfrm>
        <a:graphic>
          <a:graphicData uri="http://schemas.openxmlformats.org/drawingml/2006/table">
            <a:tbl>
              <a:tblPr firstRow="1" bandRow="1">
                <a:effectLst>
                  <a:outerShdw blurRad="50800" dist="38100" dir="2700000" algn="tl" rotWithShape="0">
                    <a:prstClr val="black">
                      <a:alpha val="40000"/>
                    </a:prstClr>
                  </a:outerShdw>
                </a:effectLst>
                <a:tableStyleId>{5940675A-B579-460E-94D1-54222C63F5DA}</a:tableStyleId>
              </a:tblPr>
              <a:tblGrid>
                <a:gridCol w="4236690">
                  <a:extLst>
                    <a:ext uri="{9D8B030D-6E8A-4147-A177-3AD203B41FA5}">
                      <a16:colId xmlns:a16="http://schemas.microsoft.com/office/drawing/2014/main" val="20000"/>
                    </a:ext>
                  </a:extLst>
                </a:gridCol>
              </a:tblGrid>
              <a:tr h="457865">
                <a:tc>
                  <a:txBody>
                    <a:bodyPr/>
                    <a:lstStyle/>
                    <a:p>
                      <a:pPr marL="0" marR="0" indent="0" algn="l" defTabSz="584200" rtl="0" eaLnBrk="1" fontAlgn="auto" latinLnBrk="0" hangingPunct="1">
                        <a:lnSpc>
                          <a:spcPct val="100000"/>
                        </a:lnSpc>
                        <a:spcBef>
                          <a:spcPts val="0"/>
                        </a:spcBef>
                        <a:spcAft>
                          <a:spcPts val="0"/>
                        </a:spcAft>
                        <a:buClrTx/>
                        <a:buSzTx/>
                        <a:buFontTx/>
                        <a:buNone/>
                        <a:tabLst/>
                        <a:defRPr/>
                      </a:pPr>
                      <a:r>
                        <a:rPr kumimoji="0" lang="en-GB" sz="1200" b="1" i="0" u="none" strike="noStrike" cap="none" spc="0" normalizeH="0" baseline="0" dirty="0">
                          <a:ln>
                            <a:noFill/>
                          </a:ln>
                          <a:solidFill>
                            <a:srgbClr val="4C4C4C"/>
                          </a:solidFill>
                          <a:effectLst/>
                          <a:uFillTx/>
                          <a:latin typeface="Source Sans Pro"/>
                          <a:ea typeface="Source Sans Pro"/>
                          <a:cs typeface="Source Sans Pro"/>
                          <a:sym typeface="Source Sans Pro"/>
                        </a:rPr>
                        <a:t>Here we used the piping technology (</a:t>
                      </a:r>
                      <a:r>
                        <a:rPr kumimoji="0" lang="en-GB" sz="1200" b="1" i="0" u="none" strike="noStrike" cap="none" spc="0" normalizeH="0" baseline="0" dirty="0">
                          <a:ln>
                            <a:noFill/>
                          </a:ln>
                          <a:solidFill>
                            <a:srgbClr val="0070C0"/>
                          </a:solidFill>
                          <a:effectLst/>
                          <a:uFillTx/>
                          <a:latin typeface="Courier New" panose="02070309020205020404" pitchFamily="49" charset="0"/>
                          <a:ea typeface="Source Sans Pro"/>
                          <a:cs typeface="Courier New" panose="02070309020205020404" pitchFamily="49" charset="0"/>
                          <a:sym typeface="Source Sans Pro"/>
                        </a:rPr>
                        <a:t>%&gt;%</a:t>
                      </a:r>
                      <a:r>
                        <a:rPr kumimoji="0" lang="en-GB" sz="1200" b="1" i="0" u="none" strike="noStrike" cap="none" spc="0" normalizeH="0" baseline="0" dirty="0">
                          <a:ln>
                            <a:noFill/>
                          </a:ln>
                          <a:solidFill>
                            <a:srgbClr val="4C4C4C"/>
                          </a:solidFill>
                          <a:effectLst/>
                          <a:uFillTx/>
                          <a:latin typeface="Source Sans Pro"/>
                          <a:ea typeface="Source Sans Pro"/>
                          <a:cs typeface="Source Sans Pro"/>
                          <a:sym typeface="Source Sans Pro"/>
                        </a:rPr>
                        <a:t>) facilitated by the </a:t>
                      </a:r>
                      <a:r>
                        <a:rPr kumimoji="0" lang="en-GB" sz="1200" b="1" i="0" u="none" strike="noStrike" cap="none" spc="0" normalizeH="0" baseline="0" dirty="0" err="1">
                          <a:ln>
                            <a:noFill/>
                          </a:ln>
                          <a:solidFill>
                            <a:srgbClr val="0070C0"/>
                          </a:solidFill>
                          <a:effectLst/>
                          <a:uFillTx/>
                          <a:latin typeface="Courier New" panose="02070309020205020404" pitchFamily="49" charset="0"/>
                          <a:ea typeface="Source Sans Pro"/>
                          <a:cs typeface="Courier New" panose="02070309020205020404" pitchFamily="49" charset="0"/>
                          <a:sym typeface="Source Sans Pro"/>
                        </a:rPr>
                        <a:t>tidyverse</a:t>
                      </a:r>
                      <a:r>
                        <a:rPr kumimoji="0" lang="en-GB" sz="1200" b="1" i="0" u="none" strike="noStrike" cap="none" spc="0" normalizeH="0" baseline="0" dirty="0">
                          <a:ln>
                            <a:noFill/>
                          </a:ln>
                          <a:solidFill>
                            <a:srgbClr val="0070C0"/>
                          </a:solidFill>
                          <a:effectLst/>
                          <a:uFillTx/>
                          <a:latin typeface="Source Sans Pro"/>
                          <a:ea typeface="Source Sans Pro"/>
                          <a:cs typeface="Source Sans Pro"/>
                          <a:sym typeface="Source Sans Pro"/>
                        </a:rPr>
                        <a:t> </a:t>
                      </a:r>
                      <a:r>
                        <a:rPr kumimoji="0" lang="en-GB" sz="1200" b="1" i="0" u="none" strike="noStrike" cap="none" spc="0" normalizeH="0" baseline="0" dirty="0">
                          <a:ln>
                            <a:noFill/>
                          </a:ln>
                          <a:solidFill>
                            <a:srgbClr val="4C4C4C"/>
                          </a:solidFill>
                          <a:effectLst/>
                          <a:uFillTx/>
                          <a:latin typeface="Source Sans Pro"/>
                          <a:ea typeface="Source Sans Pro"/>
                          <a:cs typeface="Source Sans Pro"/>
                          <a:sym typeface="Source Sans Pro"/>
                        </a:rPr>
                        <a:t>package.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
        <p:nvSpPr>
          <p:cNvPr id="101" name="Three Column Layout: : CHEAT SHEET"/>
          <p:cNvSpPr txBox="1">
            <a:spLocks/>
          </p:cNvSpPr>
          <p:nvPr/>
        </p:nvSpPr>
        <p:spPr>
          <a:xfrm>
            <a:off x="275721" y="417690"/>
            <a:ext cx="10898129" cy="80334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ormAutofit/>
          </a:bodyPr>
          <a:lstStyle>
            <a:lvl1pPr marL="0" marR="0" indent="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1pPr>
            <a:lvl2pPr marL="0" marR="0" indent="228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2pPr>
            <a:lvl3pPr marL="0" marR="0" indent="457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3pPr>
            <a:lvl4pPr marL="0" marR="0" indent="685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4pPr>
            <a:lvl5pPr marL="0" marR="0" indent="9144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5pPr>
            <a:lvl6pPr marL="0" marR="0" indent="11430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6pPr>
            <a:lvl7pPr marL="0" marR="0" indent="13716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7pPr>
            <a:lvl8pPr marL="0" marR="0" indent="16002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8pPr>
            <a:lvl9pPr marL="0" marR="0" indent="1828800" algn="l" defTabSz="584200" rtl="0" latinLnBrk="0">
              <a:lnSpc>
                <a:spcPct val="80000"/>
              </a:lnSpc>
              <a:spcBef>
                <a:spcPts val="0"/>
              </a:spcBef>
              <a:spcAft>
                <a:spcPts val="0"/>
              </a:spcAft>
              <a:buClrTx/>
              <a:buSzTx/>
              <a:buFontTx/>
              <a:buNone/>
              <a:tabLst/>
              <a:defRPr sz="4800" b="0" i="0" u="none" strike="noStrike" cap="none" spc="0" baseline="0">
                <a:ln>
                  <a:noFill/>
                </a:ln>
                <a:solidFill>
                  <a:srgbClr val="585858"/>
                </a:solidFill>
                <a:uFillTx/>
                <a:latin typeface="+mn-lt"/>
                <a:ea typeface="+mn-ea"/>
                <a:cs typeface="+mn-cs"/>
                <a:sym typeface="Source Sans Pro Light"/>
              </a:defRPr>
            </a:lvl9pPr>
          </a:lstStyle>
          <a:p>
            <a:pPr hangingPunct="1"/>
            <a:r>
              <a:rPr lang="en-GB"/>
              <a:t>R/RStudio – First Steps : : </a:t>
            </a:r>
            <a:r>
              <a:rPr lang="en-GB" sz="3300">
                <a:latin typeface="Source Sans Pro Semibold"/>
                <a:ea typeface="Source Sans Pro Semibold"/>
                <a:cs typeface="Source Sans Pro Semibold"/>
                <a:sym typeface="Source Sans Pro Semibold"/>
              </a:rPr>
              <a:t>CHEAT SHEET </a:t>
            </a:r>
            <a:r>
              <a:rPr lang="en-GB" sz="1100">
                <a:latin typeface="Source Sans Pro Semibold"/>
                <a:ea typeface="Source Sans Pro Semibold"/>
                <a:cs typeface="Source Sans Pro Semibold"/>
                <a:sym typeface="Source Sans Pro Semibold"/>
              </a:rPr>
              <a:t>v1.0</a:t>
            </a:r>
            <a:r>
              <a:rPr lang="en-GB"/>
              <a:t> </a:t>
            </a:r>
            <a:endParaRPr lang="en-GB" dirty="0"/>
          </a:p>
        </p:txBody>
      </p:sp>
    </p:spTree>
    <p:extLst>
      <p:ext uri="{BB962C8B-B14F-4D97-AF65-F5344CB8AC3E}">
        <p14:creationId xmlns:p14="http://schemas.microsoft.com/office/powerpoint/2010/main" val="985963089"/>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4C4C4C"/>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F7DCA7"/>
      </a:accent3>
      <a:accent4>
        <a:srgbClr val="DE6A10"/>
      </a:accent4>
      <a:accent5>
        <a:srgbClr val="C82506"/>
      </a:accent5>
      <a:accent6>
        <a:srgbClr val="773F9B"/>
      </a:accent6>
      <a:hlink>
        <a:srgbClr val="0000FF"/>
      </a:hlink>
      <a:folHlink>
        <a:srgbClr val="FF00FF"/>
      </a:folHlink>
    </a:clrScheme>
    <a:fontScheme name="White">
      <a:majorFont>
        <a:latin typeface="Source Sans Pro Light"/>
        <a:ea typeface="Source Sans Pro Light"/>
        <a:cs typeface="Source Sans Pro Light"/>
      </a:majorFont>
      <a:minorFont>
        <a:latin typeface="Source Sans Pro Light"/>
        <a:ea typeface="Source Sans Pro Light"/>
        <a:cs typeface="Source Sans Pro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80000"/>
          </a:lnSpc>
          <a:spcBef>
            <a:spcPts val="0"/>
          </a:spcBef>
          <a:spcAft>
            <a:spcPts val="0"/>
          </a:spcAft>
          <a:buClrTx/>
          <a:buSzTx/>
          <a:buFontTx/>
          <a:buNone/>
          <a:tabLst/>
          <a:defRPr kumimoji="0" sz="1200" b="0" i="0" u="none" strike="noStrike" cap="none" spc="0" normalizeH="0" baseline="0">
            <a:ln>
              <a:noFill/>
            </a:ln>
            <a:solidFill>
              <a:srgbClr val="000000"/>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4570" tIns="54570" rIns="54570" bIns="54570" numCol="1" spcCol="38100" rtlCol="0" anchor="ctr">
        <a:spAutoFit/>
      </a:bodyPr>
      <a:lstStyle>
        <a:defPPr marL="0" marR="0" indent="0" algn="l" defTabSz="584200" rtl="0" fontAlgn="auto" latinLnBrk="0" hangingPunct="0">
          <a:lnSpc>
            <a:spcPct val="100000"/>
          </a:lnSpc>
          <a:spcBef>
            <a:spcPts val="200"/>
          </a:spcBef>
          <a:spcAft>
            <a:spcPts val="0"/>
          </a:spcAft>
          <a:buClrTx/>
          <a:buSzTx/>
          <a:buFontTx/>
          <a:buNone/>
          <a:tabLst/>
          <a:defRPr kumimoji="0" sz="1200" b="1" i="0" u="none" strike="noStrike" cap="none" spc="0" normalizeH="0" baseline="0">
            <a:ln>
              <a:noFill/>
            </a:ln>
            <a:solidFill>
              <a:srgbClr val="4C4C4C"/>
            </a:solidFill>
            <a:effectLst/>
            <a:uFillTx/>
            <a:latin typeface="Source Sans Pro"/>
            <a:ea typeface="Source Sans Pro"/>
            <a:cs typeface="Source Sans Pro"/>
            <a:sym typeface="Source Sans Pr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2122</TotalTime>
  <Words>1703</Words>
  <Application>Microsoft Office PowerPoint</Application>
  <PresentationFormat>Custom</PresentationFormat>
  <Paragraphs>127</Paragraphs>
  <Slides>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vt:i4>
      </vt:variant>
    </vt:vector>
  </HeadingPairs>
  <TitlesOfParts>
    <vt:vector size="10" baseType="lpstr">
      <vt:lpstr>Arial</vt:lpstr>
      <vt:lpstr>Avenir Roman</vt:lpstr>
      <vt:lpstr>Courier New</vt:lpstr>
      <vt:lpstr>Helvetica Light</vt:lpstr>
      <vt:lpstr>Source Sans Pro</vt:lpstr>
      <vt:lpstr>Source Sans Pro Light</vt:lpstr>
      <vt:lpstr>Source Sans Pro Semibold</vt:lpstr>
      <vt:lpstr>White</vt:lpstr>
      <vt:lpstr>R/RStudio – First Steps : : CHEAT SHEET v1.0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Four Column Layout : : CHEAT SHEET</dc:title>
  <dc:creator>Ralf Becker</dc:creator>
  <cp:lastModifiedBy>Ralf Becker</cp:lastModifiedBy>
  <cp:revision>92</cp:revision>
  <cp:lastPrinted>2018-11-06T11:51:58Z</cp:lastPrinted>
  <dcterms:modified xsi:type="dcterms:W3CDTF">2025-10-28T09:07:00Z</dcterms:modified>
</cp:coreProperties>
</file>